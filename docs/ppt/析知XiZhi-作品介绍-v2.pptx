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39000" y="0"/>
            <a:ext cx="4953000" cy="2857500"/>
          </a:xfrm>
          <a:prstGeom prst="rect">
            <a:avLst/>
          </a:prstGeom>
          <a:solidFill>
            <a:srgbClr val="F0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533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4191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思源黑体 CN"/>
              </a:rPr>
              <a:t>析</a:t>
            </a:r>
            <a:endParaRPr sz="2000" b="1">
              <a:solidFill>
                <a:srgbClr val="FFFFFF"/>
              </a:solidFill>
              <a:latin typeface="思源黑体 C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3500" y="60960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粤港澳大湾区 AI Coding 创新大赛 · 方向一「AI + 教学管理助手」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1809750"/>
            <a:ext cx="9525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0F172A"/>
                </a:solidFill>
                <a:latin typeface="思源黑体 CN"/>
              </a:rPr>
              <a:t>析知 XiZhi</a:t>
            </a:r>
            <a:endParaRPr sz="88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3009900"/>
            <a:ext cx="762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3000" b="1">
                <a:solidFill>
                  <a:srgbClr val="3B82F6"/>
                </a:solidFill>
                <a:latin typeface="思源黑体 CN"/>
              </a:rPr>
              <a:t>多模态教学智能体</a:t>
            </a:r>
            <a:endParaRPr sz="3000" b="1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62000" y="3619500"/>
            <a:ext cx="11430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905250"/>
            <a:ext cx="95250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A1A1A"/>
                </a:solidFill>
                <a:latin typeface="思源黑体 CN"/>
              </a:rPr>
              <a:t>让教学材料变成</a:t>
            </a:r>
            <a:r>
              <a:rPr sz="2400" b="1">
                <a:solidFill>
                  <a:srgbClr val="0F172A"/>
                </a:solidFill>
                <a:latin typeface="思源黑体 CN"/>
              </a:rPr>
              <a:t>可查询、可溯源、能引导自学</a:t>
            </a:r>
            <a:r>
              <a:rPr sz="2400" b="0">
                <a:solidFill>
                  <a:srgbClr val="1A1A1A"/>
                </a:solidFill>
                <a:latin typeface="思源黑体 CN"/>
              </a:rPr>
              <a:t>的结构化知识体</a:t>
            </a:r>
            <a:endParaRPr sz="2400" b="0">
              <a:solidFill>
                <a:srgbClr val="1A1A1A"/>
              </a:solidFill>
              <a:latin typeface="思源黑体 CN"/>
            </a:endParaRP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64748B"/>
                </a:solidFill>
                <a:latin typeface="思源黑体 CN"/>
              </a:rPr>
              <a:t>图文素材智能解析 · 知识点结构化抽取 · 交互式答疑辅导</a:t>
            </a:r>
            <a:endParaRPr sz="20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5429250"/>
            <a:ext cx="1905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JetBrains Mono"/>
              </a:rPr>
              <a:t>3</a:t>
            </a:r>
            <a:endParaRPr sz="40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5829300"/>
            <a:ext cx="1905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阶段管线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52750" y="5429250"/>
            <a:ext cx="1905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JetBrains Mono"/>
              </a:rPr>
              <a:t>5 / 5</a:t>
            </a:r>
            <a:endParaRPr sz="40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52750" y="5829300"/>
            <a:ext cx="1905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验收项通过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43500" y="5429250"/>
            <a:ext cx="1905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6B6D4"/>
                </a:solidFill>
                <a:latin typeface="JetBrains Mono"/>
              </a:rPr>
              <a:t>0</a:t>
            </a:r>
            <a:endParaRPr sz="40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43500" y="5829300"/>
            <a:ext cx="1905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依赖图环数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29500" y="567690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三人团队 · 同属人工智能专业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CONTENTS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目录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57350"/>
            <a:ext cx="74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01</a:t>
            </a:r>
            <a:endParaRPr sz="26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52600" y="156210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作品简介</a:t>
            </a:r>
            <a:endParaRPr sz="2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2600" y="1905000"/>
            <a:ext cx="8572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面向什么教学场景、解决什么断点</a:t>
            </a:r>
            <a:endParaRPr sz="16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2000" y="23241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533650"/>
            <a:ext cx="74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02</a:t>
            </a:r>
            <a:endParaRPr sz="26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52600" y="243840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赛题方向</a:t>
            </a:r>
            <a:endParaRPr sz="2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52600" y="2781300"/>
            <a:ext cx="8572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方向一「AI + 教学管理助手」的对应关系</a:t>
            </a:r>
            <a:endParaRPr sz="16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2000" y="32004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3409950"/>
            <a:ext cx="74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03</a:t>
            </a:r>
            <a:endParaRPr sz="26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52600" y="331470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AI 能力说明</a:t>
            </a:r>
            <a:endParaRPr sz="2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52600" y="3657600"/>
            <a:ext cx="8572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AI 在链路中承担什么、不承担什么</a:t>
            </a:r>
            <a:endParaRPr sz="16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2000" y="40767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4286250"/>
            <a:ext cx="74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04</a:t>
            </a:r>
            <a:endParaRPr sz="26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52600" y="419100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技术方案</a:t>
            </a:r>
            <a:endParaRPr sz="2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52600" y="4533900"/>
            <a:ext cx="8572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三阶段管线 · 核心创新 · 关键取舍</a:t>
            </a:r>
            <a:endParaRPr sz="16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2000" y="4953000"/>
            <a:ext cx="742950" cy="742950"/>
          </a:xfrm>
          <a:prstGeom prst="roundRect">
            <a:avLst>
              <a:gd name="adj" fmla="val 153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0" y="5162550"/>
            <a:ext cx="742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>
                <a:solidFill>
                  <a:srgbClr val="06B6D4"/>
                </a:solidFill>
                <a:latin typeface="JetBrains Mono"/>
              </a:rPr>
              <a:t>05</a:t>
            </a:r>
            <a:endParaRPr sz="26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52600" y="5067300"/>
            <a:ext cx="6667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>
                <a:solidFill>
                  <a:srgbClr val="0F172A"/>
                </a:solidFill>
                <a:latin typeface="思源黑体 CN"/>
              </a:rPr>
              <a:t>团队与交付</a:t>
            </a:r>
            <a:endParaRPr sz="2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52600" y="5410200"/>
            <a:ext cx="8572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分工、在线链接、可复现性</a:t>
            </a:r>
            <a:endParaRPr sz="16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572500" y="1447800"/>
            <a:ext cx="2857500" cy="31432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9200" y="1714500"/>
            <a:ext cx="2324100" cy="266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三分钟内，</a:t>
            </a:r>
            <a:endParaRPr sz="1700" b="0">
              <a:solidFill>
                <a:srgbClr val="1A1A1A"/>
              </a:solidFill>
              <a:latin typeface="思源黑体 CN"/>
            </a:endParaRP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我们希望评委看到三件事：</a:t>
            </a:r>
            <a:endParaRPr sz="1700" b="0">
              <a:solidFill>
                <a:srgbClr val="1A1A1A"/>
              </a:solidFill>
              <a:latin typeface="思源黑体 CN"/>
            </a:endParaRPr>
          </a:p>
          <a:p>
            <a:pPr algn="l">
              <a:lnSpc>
                <a:spcPct val="170000"/>
              </a:lnSpc>
            </a:pP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① 这不是套壳 —— 有确定性算法兜底</a:t>
            </a:r>
            <a:endParaRPr sz="1700" b="0">
              <a:solidFill>
                <a:srgbClr val="1A1A1A"/>
              </a:solidFill>
              <a:latin typeface="思源黑体 CN"/>
            </a:endParaRP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② 创新是工程不变量，不是口号</a:t>
            </a:r>
            <a:endParaRPr sz="1700" b="0">
              <a:solidFill>
                <a:srgbClr val="1A1A1A"/>
              </a:solidFill>
              <a:latin typeface="思源黑体 CN"/>
            </a:endParaRP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③ 数据有瑕疵，我们自己先说了</a:t>
            </a:r>
            <a:endParaRPr sz="17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02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为什么做这件事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教学材料的三个断点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54305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1790700"/>
            <a:ext cx="1238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6B6D4"/>
                </a:solidFill>
                <a:latin typeface="JetBrains Mono"/>
              </a:rPr>
              <a:t>01</a:t>
            </a:r>
            <a:endParaRPr sz="60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2686050"/>
            <a:ext cx="2762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F172A"/>
                </a:solidFill>
                <a:latin typeface="思源黑体 CN"/>
              </a:rPr>
              <a:t>读不进去</a:t>
            </a:r>
            <a:endParaRPr sz="28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3219450"/>
            <a:ext cx="2762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同一门课的材料是 PDF、板书照片、PPT 混着的 ——
格式不同，检索不到一起</a:t>
            </a:r>
            <a:endParaRPr sz="17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4350" y="154305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9150" y="1790700"/>
            <a:ext cx="1238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6B6D4"/>
                </a:solidFill>
                <a:latin typeface="JetBrains Mono"/>
              </a:rPr>
              <a:t>02</a:t>
            </a:r>
            <a:endParaRPr sz="60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29150" y="2686050"/>
            <a:ext cx="2762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F172A"/>
                </a:solidFill>
                <a:latin typeface="思源黑体 CN"/>
              </a:rPr>
              <a:t>理不清</a:t>
            </a:r>
            <a:endParaRPr sz="28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29150" y="3219450"/>
            <a:ext cx="2762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材料是线性的，而知识是有依赖的 ——
学生不知道自己缺的是哪一环</a:t>
            </a:r>
            <a:endParaRPr sz="17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86700" y="154305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0" y="1790700"/>
            <a:ext cx="12382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6B6D4"/>
                </a:solidFill>
                <a:latin typeface="JetBrains Mono"/>
              </a:rPr>
              <a:t>03</a:t>
            </a:r>
            <a:endParaRPr sz="60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91500" y="2686050"/>
            <a:ext cx="2762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00" b="1">
                <a:solidFill>
                  <a:srgbClr val="0F172A"/>
                </a:solidFill>
                <a:latin typeface="思源黑体 CN"/>
              </a:rPr>
              <a:t>问不明白</a:t>
            </a:r>
            <a:endParaRPr sz="28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1500" y="3219450"/>
            <a:ext cx="2762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问答工具直接给答案，
学生记住了这一步，还是不会下一步</a:t>
            </a:r>
            <a:endParaRPr sz="17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5067300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3B82F6"/>
                </a:solidFill>
                <a:latin typeface="思源黑体 CN"/>
              </a:rPr>
              <a:t>析知针对这三个断点，分别做了三件事 —— 解析 / 结构化 / 答疑。</a:t>
            </a:r>
            <a:endParaRPr sz="2000" b="0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03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作品概览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我们做的三件事：一条三阶段管线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_stages.png"/>
          <p:cNvPicPr>
            <a:picLocks noChangeAspect="1"/>
          </p:cNvPicPr>
          <p:nvPr/>
        </p:nvPicPr>
        <p:blipFill>
          <a:blip r:embed="rId1"/>
          <a:srcRect r="44231" b="45152"/>
          <a:stretch>
            <a:fillRect/>
          </a:stretch>
        </p:blipFill>
        <p:spPr>
          <a:xfrm>
            <a:off x="762000" y="1581150"/>
            <a:ext cx="4504055" cy="3175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91250" y="1676400"/>
            <a:ext cx="38100" cy="8763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2700" y="1638300"/>
            <a:ext cx="228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Stage 1 · 解析</a:t>
            </a:r>
            <a:endParaRPr sz="19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62700" y="1962150"/>
            <a:ext cx="2286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思源黑体 CN"/>
              </a:rPr>
              <a:t>PDF / 板书照片 / PPTX
→ 带页码锚点的 Markdown</a:t>
            </a:r>
            <a:endParaRPr sz="15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0" y="1962150"/>
            <a:ext cx="27622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3B82F6"/>
                </a:solidFill>
                <a:latin typeface="思源黑体 CN"/>
              </a:rPr>
              <a:t>文本层直抽 + 本地 OCR</a:t>
            </a:r>
            <a:endParaRPr sz="1500" b="0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1250" y="2781300"/>
            <a:ext cx="38100" cy="8763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2700" y="2743200"/>
            <a:ext cx="228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Stage 2 · 结构化</a:t>
            </a:r>
            <a:endParaRPr sz="19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2700" y="3067050"/>
            <a:ext cx="2286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思源黑体 CN"/>
              </a:rPr>
              <a:t>章—节—知识点三级结构
+ 前置依赖 DAG</a:t>
            </a:r>
            <a:endParaRPr sz="15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0" y="3067050"/>
            <a:ext cx="27622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3B82F6"/>
                </a:solidFill>
                <a:latin typeface="思源黑体 CN"/>
              </a:rPr>
              <a:t>写库前环校验剪枝</a:t>
            </a:r>
            <a:endParaRPr sz="1500" b="0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1250" y="3886200"/>
            <a:ext cx="38100" cy="8763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2700" y="3848100"/>
            <a:ext cx="228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Stage 3 · 答疑</a:t>
            </a:r>
            <a:endParaRPr sz="19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2700" y="4171950"/>
            <a:ext cx="2286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1A1A1A"/>
                </a:solidFill>
                <a:latin typeface="思源黑体 CN"/>
              </a:rPr>
              <a:t>先检索再回答
· 苏格拉底状态机</a:t>
            </a:r>
            <a:endParaRPr sz="15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0" y="4171950"/>
            <a:ext cx="27622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3B82F6"/>
                </a:solidFill>
                <a:latin typeface="思源黑体 CN"/>
              </a:rPr>
              <a:t>首轮只反问
连错 2 次强制降级</a:t>
            </a:r>
            <a:endParaRPr sz="1500" b="0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04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CORE INNOVATION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主创新点：把「依赖图无环」做成工程不变量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novation.png"/>
          <p:cNvPicPr>
            <a:picLocks noChangeAspect="1"/>
          </p:cNvPicPr>
          <p:nvPr/>
        </p:nvPicPr>
        <p:blipFill>
          <a:blip r:embed="rId1"/>
          <a:srcRect r="44804" b="51817"/>
          <a:stretch>
            <a:fillRect/>
          </a:stretch>
        </p:blipFill>
        <p:spPr>
          <a:xfrm>
            <a:off x="762000" y="1447800"/>
            <a:ext cx="5362575" cy="3355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7000" y="1504950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不是「我们希望它无环」</a:t>
            </a:r>
            <a:endParaRPr sz="1800" b="0">
              <a:solidFill>
                <a:srgbClr val="64748B"/>
              </a:solidFill>
              <a:latin typeface="思源黑体 CN"/>
            </a:endParaRPr>
          </a:p>
          <a:p>
            <a:pPr algn="l">
              <a:lnSpc>
                <a:spcPct val="135000"/>
              </a:lnSpc>
            </a:pPr>
            <a:r>
              <a:rPr sz="3000" b="1">
                <a:solidFill>
                  <a:srgbClr val="0F172A"/>
                </a:solidFill>
                <a:latin typeface="思源黑体 CN"/>
              </a:rPr>
              <a:t>是「它不可能有环」</a:t>
            </a:r>
            <a:endParaRPr sz="30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249555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3B82F6"/>
                </a:solidFill>
                <a:latin typeface="思源黑体 CN"/>
              </a:rPr>
              <a:t>写库前校验</a:t>
            </a:r>
            <a:endParaRPr sz="2000" b="1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7000" y="2819400"/>
            <a:ext cx="4953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环校验在完整图上做，不是截断后的子图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7000" y="340995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3B82F6"/>
                </a:solidFill>
                <a:latin typeface="思源黑体 CN"/>
              </a:rPr>
              <a:t>违规即剪枝</a:t>
            </a:r>
            <a:endParaRPr sz="2000" b="1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7000" y="3733800"/>
            <a:ext cx="4953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成环的候选边在入库前就被剪掉，不留到运行期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7000" y="4324350"/>
            <a:ext cx="495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1">
                <a:solidFill>
                  <a:srgbClr val="3B82F6"/>
                </a:solidFill>
                <a:latin typeface="思源黑体 CN"/>
              </a:rPr>
              <a:t>留下痕迹</a:t>
            </a:r>
            <a:endParaRPr sz="2000" b="1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7000" y="4648200"/>
            <a:ext cx="495300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同时报出被剪数量与待复核数量 —— 让「0」是检查过的 0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77000" y="5238750"/>
            <a:ext cx="4953000" cy="38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5391150"/>
            <a:ext cx="4953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当前实测：环数 0 · 15 条硬前置边</a:t>
            </a:r>
            <a:endParaRPr sz="1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05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AI 能力说明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谁在干活：AI 干粗活 + 人做裁决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view_draw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409700"/>
            <a:ext cx="6286500" cy="3929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00" y="1447800"/>
            <a:ext cx="4000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800" b="0">
                <a:solidFill>
                  <a:srgbClr val="1A1A1A"/>
                </a:solidFill>
                <a:latin typeface="思源黑体 CN"/>
              </a:rPr>
              <a:t>复核队列里每条候选边都带
理由与原文出处，等人采纳或驳回。</a:t>
            </a:r>
            <a:endParaRPr sz="18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429500" y="24384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1900" y="240030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AI 不假装判准</a:t>
            </a:r>
            <a:endParaRPr sz="18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81900" y="2705100"/>
            <a:ext cx="381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过滤只做「一眼不像知识点」的排除，宁可放过不可误杀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29500" y="344805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1900" y="34099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不确定摊在界面上</a:t>
            </a:r>
            <a:endParaRPr sz="18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1900" y="3714750"/>
            <a:ext cx="381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全部候选 100% 标 needs_review —— 评审可复核的原始数据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29500" y="4457700"/>
            <a:ext cx="38100" cy="3810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1900" y="441960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0F172A"/>
                </a:solidFill>
                <a:latin typeface="思源黑体 CN"/>
              </a:rPr>
              <a:t>人做最终裁决</a:t>
            </a:r>
            <a:endParaRPr sz="18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1900" y="4724400"/>
            <a:ext cx="381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采纳才进正式图；驳回软删除留痕，不留白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06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DATA · 主动暴露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抽取结果：我们把口径说清楚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352550"/>
            <a:ext cx="10668000" cy="3619500"/>
          </a:xfrm>
          <a:prstGeom prst="roundRect">
            <a:avLst>
              <a:gd name="adj" fmla="val 4210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33500" y="1924050"/>
            <a:ext cx="2286000" cy="81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213</a:t>
            </a:r>
            <a:endParaRPr sz="6600" b="1">
              <a:solidFill>
                <a:srgbClr val="EA580C"/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3500" y="2584132"/>
            <a:ext cx="228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个知识点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29050" y="1924050"/>
            <a:ext cx="2286000" cy="81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146</a:t>
            </a:r>
            <a:endParaRPr sz="6600" b="1">
              <a:solidFill>
                <a:srgbClr val="EA580C"/>
              </a:solidFill>
              <a:latin typeface="JetBrains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29050" y="2584132"/>
            <a:ext cx="228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个不同内容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4600" y="1924050"/>
            <a:ext cx="2286000" cy="81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23</a:t>
            </a:r>
            <a:endParaRPr sz="6600" b="1">
              <a:solidFill>
                <a:srgbClr val="EA580C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24600" y="2584132"/>
            <a:ext cx="228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条硬前置边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20150" y="1924050"/>
            <a:ext cx="2286000" cy="817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EA580C"/>
                </a:solidFill>
                <a:latin typeface="JetBrains Mono"/>
              </a:rPr>
              <a:t>100%</a:t>
            </a:r>
            <a:endParaRPr sz="6600" b="1">
              <a:solidFill>
                <a:srgbClr val="EA580C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20150" y="2584132"/>
            <a:ext cx="2286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64748B"/>
                </a:solidFill>
                <a:latin typeface="思源黑体 CN"/>
              </a:rPr>
              <a:t>标了待复核</a:t>
            </a:r>
            <a:endParaRPr sz="18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3500" y="3581400"/>
            <a:ext cx="95250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**213 个知识点** —— 其中 **67 个是同内容的真重复**（材料本来就有，我们标注不去重）。</a:t>
            </a:r>
            <a:endParaRPr sz="1700" b="0">
              <a:solidFill>
                <a:srgbClr val="1A1A1A"/>
              </a:solidFill>
              <a:latin typeface="思源黑体 CN"/>
            </a:endParaRP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**根因已修**：抽取器把「章内序号」当成了全局序号，导致同一批块被多个节各抽一遍 —— 重跑后副本从 483 降到 67。</a:t>
            </a:r>
            <a:endParaRPr sz="1700" b="0">
              <a:solidFill>
                <a:srgbClr val="1A1A1A"/>
              </a:solidFill>
              <a:latin typeface="思源黑体 CN"/>
            </a:endParaRPr>
          </a:p>
          <a:p>
            <a:pPr algn="l">
              <a:lnSpc>
                <a:spcPct val="170000"/>
              </a:lnSpc>
            </a:pPr>
            <a:r>
              <a:rPr sz="1700" b="0">
                <a:solidFill>
                  <a:srgbClr val="1A1A1A"/>
                </a:solidFill>
                <a:latin typeface="思源黑体 CN"/>
              </a:rPr>
              <a:t>我们没有把它藏起来，而是**把待复核标到 100%**，交给复核队列。</a:t>
            </a:r>
            <a:endParaRPr sz="17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2000" y="525780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思源黑体 CN"/>
              </a:rPr>
              <a:t>**剩下那 67 个是材料的真实重复** —— 我们**只标注、不删数据**。</a:t>
            </a:r>
            <a:endParaRPr sz="1600" b="0">
              <a:solidFill>
                <a:srgbClr val="3B82F6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07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Stage 3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答疑：不给答案也是设计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859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" y="16287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1714500"/>
            <a:ext cx="4191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1</a:t>
            </a:r>
            <a:endParaRPr sz="20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6850" y="161925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反问</a:t>
            </a:r>
            <a:endParaRPr sz="19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6850" y="188595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只反问，不给答案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2000" y="23241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5350" y="24669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2552700"/>
            <a:ext cx="4191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2</a:t>
            </a:r>
            <a:endParaRPr sz="20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6850" y="245745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提示 1</a:t>
            </a:r>
            <a:endParaRPr sz="19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66850" y="272415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方向性提示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2000" y="31623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5350" y="33051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" y="3390900"/>
            <a:ext cx="4191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3</a:t>
            </a:r>
            <a:endParaRPr sz="20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66850" y="329565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提示 2</a:t>
            </a:r>
            <a:endParaRPr sz="19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66850" y="356235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强暗示，仍不给结论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62000" y="4000500"/>
            <a:ext cx="4000500" cy="704850"/>
          </a:xfrm>
          <a:prstGeom prst="roundRect">
            <a:avLst>
              <a:gd name="adj" fmla="val 16216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350" y="41433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" y="4229100"/>
            <a:ext cx="4191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JetBrains Mono"/>
              </a:rPr>
              <a:t>4</a:t>
            </a:r>
            <a:endParaRPr sz="20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66850" y="413385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900" b="1">
                <a:solidFill>
                  <a:srgbClr val="0F172A"/>
                </a:solidFill>
                <a:latin typeface="思源黑体 CN"/>
              </a:rPr>
              <a:t>兜底讲解</a:t>
            </a:r>
            <a:endParaRPr sz="19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66850" y="4400550"/>
            <a:ext cx="304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EA580C"/>
                </a:solidFill>
                <a:latin typeface="思源黑体 CN"/>
              </a:rPr>
              <a:t>直接讲透</a:t>
            </a:r>
            <a:endParaRPr sz="1500" b="0">
              <a:solidFill>
                <a:srgbClr val="EA580C"/>
              </a:solidFill>
              <a:latin typeface="思源黑体 C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2000" y="4895850"/>
            <a:ext cx="4000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降级由**代码层强制**，不依赖模型自觉 ——
连续 2 次答不上就讲透。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pic>
        <p:nvPicPr>
          <p:cNvPr id="26" name="Picture 25" descr="tutor_expl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0" y="1409700"/>
            <a:ext cx="6191250" cy="386953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08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Stage 2 · 可解释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学习路径：先学什么、后学什么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543050"/>
            <a:ext cx="4095750" cy="1028700"/>
          </a:xfrm>
          <a:prstGeom prst="roundRect">
            <a:avLst>
              <a:gd name="adj" fmla="val 129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" y="18669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2500" y="1933575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JetBrains Mono"/>
              </a:rPr>
              <a:t>1</a:t>
            </a:r>
            <a:endParaRPr sz="18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5900" y="1809750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The basic problem of routing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5900" y="21336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起点 · 入度 0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90825" y="260985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000" y="2800350"/>
            <a:ext cx="4095750" cy="1028700"/>
          </a:xfrm>
          <a:prstGeom prst="roundRect">
            <a:avLst>
              <a:gd name="adj" fmla="val 129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500" y="31242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" y="3190875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JetBrains Mono"/>
              </a:rPr>
              <a:t>2</a:t>
            </a:r>
            <a:endParaRPr sz="18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85900" y="3067050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distance-vector routing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5900" y="33909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补齐硬前置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90825" y="3867150"/>
            <a:ext cx="38100" cy="190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2000" y="4057650"/>
            <a:ext cx="4095750" cy="1028700"/>
          </a:xfrm>
          <a:prstGeom prst="roundRect">
            <a:avLst>
              <a:gd name="adj" fmla="val 129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500" y="43815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" y="4448175"/>
            <a:ext cx="381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FFFF"/>
                </a:solidFill>
                <a:latin typeface="JetBrains Mono"/>
              </a:rPr>
              <a:t>3</a:t>
            </a:r>
            <a:endParaRPr sz="18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85900" y="4324350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RIP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85900" y="4648200"/>
            <a:ext cx="3238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目标 · 可以学了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5391150"/>
            <a:ext cx="4095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思源黑体 CN"/>
              </a:rPr>
              <a:t>路径 3 步，每步都附来自硬前置边的理由
—— 排序不是黑箱。</a:t>
            </a:r>
            <a:endParaRPr sz="1600" b="0">
              <a:solidFill>
                <a:srgbClr val="3B82F6"/>
              </a:solidFill>
              <a:latin typeface="思源黑体 CN"/>
            </a:endParaRPr>
          </a:p>
        </p:txBody>
      </p:sp>
      <p:pic>
        <p:nvPicPr>
          <p:cNvPr id="23" name="Picture 22" descr="learning_pa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581150"/>
            <a:ext cx="6096000" cy="381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09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为什么不用那个更「标准」的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技术方案：三个取舍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10668000" cy="1219200"/>
          </a:xfrm>
          <a:prstGeom prst="roundRect">
            <a:avLst>
              <a:gd name="adj" fmla="val 109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" y="1657350"/>
            <a:ext cx="1238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64748B"/>
                </a:solidFill>
                <a:latin typeface="思源黑体 CN"/>
              </a:rPr>
              <a:t>后端</a:t>
            </a:r>
            <a:endParaRPr sz="1800" b="1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8700" y="1962150"/>
            <a:ext cx="3238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FastAPI + Uvicorn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0" y="1695450"/>
            <a:ext cx="28575" cy="7239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38700" y="1733550"/>
            <a:ext cx="6286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Stage 1 的解析生态在 Python —— 换 Node 要把 OCR、PDF 解析全部重做一遍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2000" y="2838450"/>
            <a:ext cx="10668000" cy="1219200"/>
          </a:xfrm>
          <a:prstGeom prst="roundRect">
            <a:avLst>
              <a:gd name="adj" fmla="val 109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8700" y="3048000"/>
            <a:ext cx="1238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64748B"/>
                </a:solidFill>
                <a:latin typeface="思源黑体 CN"/>
              </a:rPr>
              <a:t>数据库</a:t>
            </a:r>
            <a:endParaRPr sz="1800" b="1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8700" y="3352800"/>
            <a:ext cx="3238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SQLite（WAL）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72000" y="3086100"/>
            <a:ext cx="28575" cy="7239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8700" y="3124200"/>
            <a:ext cx="6286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单机演示规模下，PG 带来的运维成本远大于收益；WAL 足够支撑并发读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2000" y="4229100"/>
            <a:ext cx="10668000" cy="1219200"/>
          </a:xfrm>
          <a:prstGeom prst="roundRect">
            <a:avLst>
              <a:gd name="adj" fmla="val 109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4438650"/>
            <a:ext cx="1238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64748B"/>
                </a:solidFill>
                <a:latin typeface="思源黑体 CN"/>
              </a:rPr>
              <a:t>检索</a:t>
            </a:r>
            <a:endParaRPr sz="1800" b="1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8700" y="4743450"/>
            <a:ext cx="32385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NumPy 暴力余弦 + FTS5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0" y="4476750"/>
            <a:ext cx="28575" cy="7239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8700" y="4514850"/>
            <a:ext cx="6286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规模不到万级，暴力算只需毫秒；引向量库要付出索引构建与依赖体积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10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QUALITY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质量：五项验收全通过，以及它怎么被验的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3830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6400"/>
            <a:ext cx="266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  <a:endParaRPr sz="1500" b="1">
              <a:solidFill>
                <a:srgbClr val="FFFFFF"/>
              </a:solidFill>
              <a:latin typeface="思源黑体 C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14450" y="156210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A2-1 三级结构完整率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14450" y="1809750"/>
            <a:ext cx="4000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章—节—知识点三级齐全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0" y="1619250"/>
            <a:ext cx="1181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100%</a:t>
            </a:r>
            <a:endParaRPr sz="22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2000" y="219075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38125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19350"/>
            <a:ext cx="266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  <a:endParaRPr sz="1500" b="1">
              <a:solidFill>
                <a:srgbClr val="FFFFFF"/>
              </a:solidFill>
              <a:latin typeface="思源黑体 C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14450" y="230505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A2-3 溯源覆盖率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14450" y="2552700"/>
            <a:ext cx="4000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每个知识点都能回到原文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0" y="2362200"/>
            <a:ext cx="1181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100%</a:t>
            </a:r>
            <a:endParaRPr sz="22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2000" y="293370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12420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62300"/>
            <a:ext cx="266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  <a:endParaRPr sz="1500" b="1">
              <a:solidFill>
                <a:srgbClr val="FFFFFF"/>
              </a:solidFill>
              <a:latin typeface="思源黑体 C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14450" y="304800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B1-2 依赖图环数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14450" y="3295650"/>
            <a:ext cx="4000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写库前校验，不是抽完才看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96000" y="3105150"/>
            <a:ext cx="1181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0</a:t>
            </a:r>
            <a:endParaRPr sz="22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2000" y="367665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386715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05250"/>
            <a:ext cx="266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  <a:endParaRPr sz="1500" b="1">
              <a:solidFill>
                <a:srgbClr val="FFFFFF"/>
              </a:solidFill>
              <a:latin typeface="思源黑体 C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14450" y="379095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B1-5 边理由完备率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14450" y="4038600"/>
            <a:ext cx="4000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每条边都带理由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96000" y="3848100"/>
            <a:ext cx="1181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100%</a:t>
            </a:r>
            <a:endParaRPr sz="22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62000" y="4419600"/>
            <a:ext cx="6667500" cy="647700"/>
          </a:xfrm>
          <a:prstGeom prst="roundRect">
            <a:avLst>
              <a:gd name="adj" fmla="val 147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4610100"/>
            <a:ext cx="266700" cy="2667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48200"/>
            <a:ext cx="266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1">
                <a:solidFill>
                  <a:srgbClr val="FFFFFF"/>
                </a:solidFill>
                <a:latin typeface="思源黑体 CN"/>
              </a:rPr>
              <a:t>✓</a:t>
            </a:r>
            <a:endParaRPr sz="1500" b="1">
              <a:solidFill>
                <a:srgbClr val="FFFFFF"/>
              </a:solidFill>
              <a:latin typeface="思源黑体 C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14450" y="4533900"/>
            <a:ext cx="304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1">
                <a:solidFill>
                  <a:srgbClr val="0F172A"/>
                </a:solidFill>
                <a:latin typeface="思源黑体 CN"/>
              </a:rPr>
              <a:t>幻觉率</a:t>
            </a:r>
            <a:endParaRPr sz="17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14450" y="4781550"/>
            <a:ext cx="4000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检索不到就说材料里没有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96000" y="4591050"/>
            <a:ext cx="11811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2200" b="1">
                <a:solidFill>
                  <a:srgbClr val="06B6D4"/>
                </a:solidFill>
                <a:latin typeface="JetBrains Mono"/>
              </a:rPr>
              <a:t>0</a:t>
            </a:r>
            <a:endParaRPr sz="2200" b="1">
              <a:solidFill>
                <a:srgbClr val="06B6D4"/>
              </a:solidFill>
              <a:latin typeface="JetBrains Mono"/>
            </a:endParaRPr>
          </a:p>
        </p:txBody>
      </p:sp>
      <p:pic>
        <p:nvPicPr>
          <p:cNvPr id="35" name="Picture 34" descr="graph_p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0" y="1447800"/>
            <a:ext cx="3810000" cy="23812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620000" y="3981450"/>
            <a:ext cx="38100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图页同时报出环数、被剪边数与待复核数 ——
让「0」是检查过的 0，而不是恰好没出错。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11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LIMITS · 不藏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我们主动说的两个瑕疵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5200650" cy="4191000"/>
          </a:xfrm>
          <a:prstGeom prst="roundRect">
            <a:avLst>
              <a:gd name="adj" fmla="val 3636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169545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A580C"/>
                </a:solidFill>
                <a:latin typeface="JetBrains Mono"/>
              </a:rPr>
              <a:t>瑕疵一</a:t>
            </a:r>
            <a:endParaRPr sz="1500" b="1">
              <a:solidFill>
                <a:srgbClr val="EA580C"/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2019300"/>
            <a:ext cx="4572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213 条里 67 条是真重复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2743200"/>
            <a:ext cx="45720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**根因已修**：章内序号曾被当成全局序号（详见第 7 页）。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066800" y="4114800"/>
            <a:ext cx="4572000" cy="285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4305300"/>
            <a:ext cx="4572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0F172A"/>
                </a:solidFill>
                <a:latin typeface="思源黑体 CN"/>
              </a:rPr>
              <a:t>处置：**根因已修 + 重跑**（副本 483→67）；剩下的 67 个是材料的真实重复，**只标注不去重**。</a:t>
            </a:r>
            <a:endParaRPr sz="1600" b="0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29350" y="1447800"/>
            <a:ext cx="5200650" cy="4191000"/>
          </a:xfrm>
          <a:prstGeom prst="roundRect">
            <a:avLst>
              <a:gd name="adj" fmla="val 3636"/>
            </a:avLst>
          </a:prstGeom>
          <a:solidFill>
            <a:srgbClr val="F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150" y="169545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EA580C"/>
                </a:solidFill>
                <a:latin typeface="JetBrains Mono"/>
              </a:rPr>
              <a:t>瑕疵二</a:t>
            </a:r>
            <a:endParaRPr sz="1500" b="1">
              <a:solidFill>
                <a:srgbClr val="EA580C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4150" y="2019300"/>
            <a:ext cx="4572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1 条硬前置边与 AI 判向相反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4150" y="2743200"/>
            <a:ext cx="45720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1A1A1A"/>
                </a:solidFill>
                <a:latin typeface="思源黑体 CN"/>
              </a:rPr>
              <a:t>AI 按文档顺序抽出的方向是「滑动窗口 → TCP」，
而我们读原文判定：要先懂 TCP 的字节流。</a:t>
            </a:r>
            <a:endParaRPr sz="16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34150" y="4114800"/>
            <a:ext cx="4572000" cy="2857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4150" y="4305300"/>
            <a:ext cx="4572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0">
                <a:solidFill>
                  <a:srgbClr val="0F172A"/>
                </a:solidFill>
                <a:latin typeface="思源黑体 CN"/>
              </a:rPr>
              <a:t>处置：不灌它，留在复核队列 ——
它正好是「人做裁决」的实例。</a:t>
            </a:r>
            <a:endParaRPr sz="1600" b="0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12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DELIVERABLES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作品信息与在线演示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447800"/>
            <a:ext cx="5200650" cy="3810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800" y="1695450"/>
            <a:ext cx="457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在线链接</a:t>
            </a:r>
            <a:endParaRPr sz="15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2019300"/>
            <a:ext cx="4572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0F172A"/>
                </a:solidFill>
                <a:latin typeface="JetBrains Mono"/>
              </a:rPr>
              <a:t>http://120.77.177.171:8000/</a:t>
            </a:r>
            <a:endParaRPr sz="1700" b="0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2476500"/>
            <a:ext cx="457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源码仓库</a:t>
            </a:r>
            <a:endParaRPr sz="15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281940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0F172A"/>
                </a:solidFill>
                <a:latin typeface="JetBrains Mono"/>
              </a:rPr>
              <a:t>github.com/RyeYen/
multimodal-teaching-agent</a:t>
            </a:r>
            <a:endParaRPr sz="1500" b="0">
              <a:solidFill>
                <a:srgbClr val="0F172A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3581400"/>
            <a:ext cx="457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技术栈</a:t>
            </a:r>
            <a:endParaRPr sz="15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800" y="3924300"/>
            <a:ext cx="4572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1A1A1A"/>
                </a:solidFill>
                <a:latin typeface="思源黑体 CN"/>
              </a:rPr>
              <a:t>React 18 + TypeScript + Vite / FastAPI + SQLite(WAL)
PaddleOCR（本地）· NumPy 暴力检索 + FTS5
运行期零外部依赖</a:t>
            </a:r>
            <a:endParaRPr sz="1500" b="0">
              <a:solidFill>
                <a:srgbClr val="1A1A1A"/>
              </a:solidFill>
              <a:latin typeface="思源黑体 C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29350" y="1447800"/>
            <a:ext cx="5200650" cy="3810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4150" y="1695450"/>
            <a:ext cx="457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JetBrains Mono"/>
              </a:rPr>
              <a:t>可复现性</a:t>
            </a:r>
            <a:endParaRPr sz="1500" b="1">
              <a:solidFill>
                <a:srgbClr val="06B6D4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4150" y="20955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环境自检</a:t>
            </a:r>
            <a:endParaRPr sz="1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4150" y="236220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scripts/setup-venv.sh --check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34150" y="27051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一键测试</a:t>
            </a:r>
            <a:endParaRPr sz="1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4150" y="297180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scripts/test.sh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4150" y="3314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交付打包</a:t>
            </a:r>
            <a:endParaRPr sz="1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34150" y="358140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scripts/pack.sh（含敏感信息复查）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34150" y="39243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部署自检</a:t>
            </a:r>
            <a:endParaRPr sz="1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4150" y="419100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scripts/check-deploy.py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34150" y="45339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0F172A"/>
                </a:solidFill>
                <a:latin typeface="思源黑体 CN"/>
              </a:rPr>
              <a:t>演示快照</a:t>
            </a:r>
            <a:endParaRPr sz="16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4150" y="4800600"/>
            <a:ext cx="4572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docs/metrics-snapshot.json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0" y="636270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思源黑体 CN"/>
              </a:rPr>
              <a:t>析知 XiZhi · 多模态教学智能体</a:t>
            </a:r>
            <a:endParaRPr sz="14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25000" y="63627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>
                <a:solidFill>
                  <a:srgbClr val="64748B"/>
                </a:solidFill>
                <a:latin typeface="JetBrains Mono"/>
              </a:rPr>
              <a:t>13 / 14</a:t>
            </a:r>
            <a:endParaRPr sz="1400" b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4765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06B6D4"/>
                </a:solidFill>
                <a:latin typeface="思源黑体 CN"/>
              </a:rPr>
              <a:t>TEAM</a:t>
            </a:r>
            <a:endParaRPr sz="1500" b="1">
              <a:solidFill>
                <a:srgbClr val="06B6D4"/>
              </a:solidFill>
              <a:latin typeface="思源黑体 C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514350"/>
            <a:ext cx="10477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0F172A"/>
                </a:solidFill>
                <a:latin typeface="思源黑体 CN"/>
              </a:rPr>
              <a:t>团队成员</a:t>
            </a:r>
            <a:endParaRPr sz="32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62000" y="1104900"/>
            <a:ext cx="533400" cy="47625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182880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6800" y="21145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22479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FFFFFF"/>
                </a:solidFill>
                <a:latin typeface="JetBrains Mono"/>
              </a:rPr>
              <a:t>P1</a:t>
            </a:r>
            <a:endParaRPr sz="22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2895600"/>
            <a:ext cx="276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解析工程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3295650"/>
            <a:ext cx="2762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JetBrains Mono"/>
              </a:rPr>
              <a:t>@DakerDack</a:t>
            </a:r>
            <a:endParaRPr sz="1600" b="0">
              <a:solidFill>
                <a:srgbClr val="3B82F6"/>
              </a:solidFill>
              <a:latin typeface="JetBrains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3752850"/>
            <a:ext cx="2762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PDF / 板书解析链路、OCR 校对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4350" y="182880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29150" y="21145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9150" y="22479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FFFFFF"/>
                </a:solidFill>
                <a:latin typeface="JetBrains Mono"/>
              </a:rPr>
              <a:t>P2</a:t>
            </a:r>
            <a:endParaRPr sz="22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29150" y="2895600"/>
            <a:ext cx="276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数据与结构化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29150" y="3295650"/>
            <a:ext cx="2762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JetBrains Mono"/>
              </a:rPr>
              <a:t>@Mikeys5s</a:t>
            </a:r>
            <a:endParaRPr sz="1600" b="0">
              <a:solidFill>
                <a:srgbClr val="3B82F6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29150" y="3752850"/>
            <a:ext cx="2762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抽取管线、依赖图、学习路径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86700" y="1828800"/>
            <a:ext cx="3333750" cy="314325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1500" y="211455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2479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FFFFFF"/>
                </a:solidFill>
                <a:latin typeface="JetBrains Mono"/>
              </a:rPr>
              <a:t>P3</a:t>
            </a:r>
            <a:endParaRPr sz="22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91500" y="2895600"/>
            <a:ext cx="2762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前端与交互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1500" y="3295650"/>
            <a:ext cx="2762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3B82F6"/>
                </a:solidFill>
                <a:latin typeface="JetBrains Mono"/>
              </a:rPr>
              <a:t>@RyeYen</a:t>
            </a:r>
            <a:endParaRPr sz="1600" b="0">
              <a:solidFill>
                <a:srgbClr val="3B82F6"/>
              </a:solidFill>
              <a:latin typeface="JetBrains Mon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91500" y="3752850"/>
            <a:ext cx="2762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4748B"/>
                </a:solidFill>
                <a:latin typeface="思源黑体 CN"/>
              </a:rPr>
              <a:t>页面与状态机、复核工作台</a:t>
            </a:r>
            <a:endParaRPr sz="15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2000" y="5257800"/>
            <a:ext cx="1066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64748B"/>
                </a:solidFill>
                <a:latin typeface="思源黑体 CN"/>
              </a:rPr>
              <a:t>三人同属计算机与软件学院 · 人工智能专业 · 联系方式见提交材料</a:t>
            </a:r>
            <a:endParaRPr sz="1600" b="0">
              <a:solidFill>
                <a:srgbClr val="64748B"/>
              </a:solidFill>
              <a:latin typeface="思源黑体 C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0" y="565785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F172A"/>
                </a:solidFill>
                <a:latin typeface="思源黑体 CN"/>
              </a:rPr>
              <a:t>谢谢，欢迎提问。</a:t>
            </a:r>
            <a:endParaRPr sz="2400" b="1">
              <a:solidFill>
                <a:srgbClr val="0F172A"/>
              </a:solidFill>
              <a:latin typeface="思源黑体 C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2790</Words>
  <Application>WPS 演示</Application>
  <PresentationFormat>On-screen Show (4:3)</PresentationFormat>
  <Paragraphs>437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Arial</vt:lpstr>
      <vt:lpstr>思源黑体 CN</vt:lpstr>
      <vt:lpstr>黑体</vt:lpstr>
      <vt:lpstr>JetBrains Mono</vt:lpstr>
      <vt:lpstr>Calibri</vt:lpstr>
      <vt:lpstr>FFont-Family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Mikeys</cp:lastModifiedBy>
  <cp:revision>2</cp:revision>
  <dcterms:created xsi:type="dcterms:W3CDTF">2013-01-27T09:14:00Z</dcterms:created>
  <dcterms:modified xsi:type="dcterms:W3CDTF">2026-09-22T16:07:15Z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B5E84C929D96442497B3AE38466A4354_12</vt:lpwstr>
  </property>
</Properties>
</file>