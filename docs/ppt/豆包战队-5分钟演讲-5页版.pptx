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1215" y="0"/>
            <a:ext cx="3840480" cy="2377440"/>
          </a:xfrm>
          <a:prstGeom prst="rect">
            <a:avLst/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457200"/>
            <a:ext cx="384048" cy="38404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484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52120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粤港澳大湾区 AI Coding 创新大赛 · 方向一「AI + 教学管理助手」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6200" b="1">
                <a:solidFill>
                  <a:srgbClr val="0F172A"/>
                </a:solidFill>
                <a:latin typeface="微软雅黑"/>
              </a:rPr>
              <a:t>析知 XiZhi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3B82F6"/>
                </a:solidFill>
                <a:latin typeface="微软雅黑"/>
              </a:rPr>
              <a:t>多模态教学智能体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383280"/>
            <a:ext cx="914400" cy="594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6118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/>
              </a:rPr>
              <a:t>把讲义和板书，变成可检索、可溯源、有依赖关系的知识骨架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04164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3B82F6"/>
                </a:solidFill>
                <a:latin typeface="微软雅黑"/>
              </a:rPr>
              <a:t>别直接给答案，帮我搞懂我卡在哪。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阶段管线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/>
              </a:rPr>
              <a:t>213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知识点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/>
              </a:rPr>
              <a:t>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依赖边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6B6D4"/>
                </a:solidFill>
                <a:latin typeface="Consola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依赖图环数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深圳大学计算机与软件学院 · 人工智能专业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6B6D4"/>
                </a:solidFill>
                <a:latin typeface="微软雅黑"/>
              </a:rPr>
              <a:t>PROBLEM →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/>
              </a:rPr>
              <a:t>学生的三个断点，对应我们做三件事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</a:rPr>
              <a:t>读不进去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PDF / 板书照片 / PPT 混着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格式不同，检索不到一起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</a:rPr>
              <a:t>理不清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材料是线性的，知识有依赖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学生不知道缺的是哪一环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48" y="1481328"/>
            <a:ext cx="3401568" cy="12984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7848" y="1481328"/>
            <a:ext cx="34015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</a:rPr>
              <a:t>问不明白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202996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问答工具直接给答案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微软雅黑"/>
              </a:rPr>
              <a:t>记住了这一步，还是不会下一步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017520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" y="3017520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18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① 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31546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PaddleOCR（本地）→ 统一转 Markdown（带页码锚点）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730752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" y="3730752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31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② 结构化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38679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「章—节—知识点」三级骨架（完整率与溯源覆盖率 100%）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443984"/>
            <a:ext cx="10698480" cy="62179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" y="4443984"/>
            <a:ext cx="45720" cy="6217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544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③ 图推理 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458114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依赖图校验 / 环路剪枝 / 学习路径 / 卡点回溯 —— 纯标准库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5157216"/>
            <a:ext cx="10698480" cy="6217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5157216"/>
            <a:ext cx="45720" cy="6217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④ 答疑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9192" y="5294376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状态机驱动的苏格拉底式引导（提问 → 提示 → 讲解）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微软雅黑"/>
              </a:rPr>
              <a:t>⭐ 一条原则贯穿：AI 干粗活 + 人做裁决 —— 关键路径放在确定性算法上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析知 XiZhi · 多模态教学智能体 · 豆包战队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06B6D4"/>
                </a:solidFill>
                <a:latin typeface="微软雅黑"/>
              </a:rPr>
              <a:t>DEMO · 三个核心能力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/>
              </a:rPr>
              <a:t>依赖图 · 学习路径 · 苏格拉底答疑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依赖图</a:t>
            </a:r>
          </a:p>
        </p:txBody>
      </p:sp>
      <p:pic>
        <p:nvPicPr>
          <p:cNvPr id="6" name="Picture 5" descr="屏幕截图 2026-10-11 1835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46405"/>
            <a:ext cx="3395471" cy="2137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</a:rPr>
              <a:t>213 节点 · 229 边 · 环数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环数 0 是工程不变量，可当场复跑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0456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学习路径</a:t>
            </a:r>
          </a:p>
        </p:txBody>
      </p:sp>
      <p:pic>
        <p:nvPicPr>
          <p:cNvPr id="11" name="Picture 10" descr="屏幕截图 2026-10-11 1834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56" y="2402505"/>
            <a:ext cx="3395471" cy="20255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28744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</a:rPr>
              <a:t>每一步都带理由 + 教材原文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744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以「慢启动第二种场景」为目标的 3 步路径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960" y="1389888"/>
            <a:ext cx="3395471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8264" y="1472184"/>
            <a:ext cx="3121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苏格拉底答疑</a:t>
            </a:r>
          </a:p>
        </p:txBody>
      </p:sp>
      <p:pic>
        <p:nvPicPr>
          <p:cNvPr id="16" name="Picture 15" descr="屏幕截图 2026-10-11 1835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960" y="2536162"/>
            <a:ext cx="3395471" cy="17582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80247" y="5056632"/>
            <a:ext cx="33954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</a:rPr>
              <a:t>首轮只反问，连错 2 次才直讲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0247" y="5422392"/>
            <a:ext cx="3395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降级由代码层强制；材料里没有就拒答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B82F6"/>
                </a:solidFill>
                <a:latin typeface="微软雅黑"/>
              </a:rPr>
              <a:t>⭐ 校验不是「我们说测过了」—— 全链路复验 40 项 / 部署自检 6 项，你也能跑一遍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析知 XiZhi · 多模态教学智能体 · 豆包战队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10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EA580C"/>
                </a:solidFill>
                <a:latin typeface="微软雅黑"/>
              </a:rPr>
              <a:t>LIMITS · 我们主动说的不足 · ★ 这一页是差异化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1">
                <a:solidFill>
                  <a:srgbClr val="0F172A"/>
                </a:solidFill>
                <a:latin typeface="微软雅黑"/>
              </a:rPr>
              <a:t>两个瑕疵，以及我们怎么处置的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481328"/>
            <a:ext cx="10698480" cy="19202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481328"/>
            <a:ext cx="45720" cy="1920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66420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/>
              </a:rPr>
              <a:t>① 数据有过重复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103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早先版本里同一份材料被抽了多遍，副本混进图里。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根因是一个可定位的 bug（「章内序号」被当成全局序号用）——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我们修了它并重跑：副本从 483（bug 产物）降到 67 ——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而剩下那 67 个是材料本身的真重复，我们只标注、不删数据。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3566159"/>
            <a:ext cx="10698480" cy="19202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3566159"/>
            <a:ext cx="45720" cy="1920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374903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A580C"/>
                </a:solidFill>
                <a:latin typeface="微软雅黑"/>
              </a:rPr>
              <a:t>② 有一条边与 AI 判向相反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4187951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AI 按文档顺序抽出的方向是「滑动窗口 → TCP」，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而我们读原文判定：要先懂 TCP 的字节流。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我们不灌它，留在复核队列 ——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4155"/>
                </a:solidFill>
                <a:latin typeface="微软雅黑"/>
              </a:rPr>
              <a:t>它正好是「人做裁决」的实例：AI 不假装自己判准了。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715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⇒ 我们宁可显示「不知道」，不显示「像知道」。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43737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析知 XiZhi · 多模态教学智能体 · 豆包战队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437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3C5FD"/>
                </a:solidFill>
                <a:latin typeface="微软雅黑"/>
              </a:rPr>
              <a:t>欢迎提问 —— 包括「怎么证明环数真的是 0」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在线演示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68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B82F6"/>
                </a:solidFill>
                <a:latin typeface="Consolas"/>
              </a:rPr>
              <a:t>http://120.77.177.171:8000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源码仓库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0175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B82F6"/>
                </a:solidFill>
                <a:latin typeface="Consolas"/>
              </a:rPr>
              <a:t>https://gitee.com/mikey_code/multimodal-teaching-agent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</a:rPr>
              <a:t>交付物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566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B82F6"/>
                </a:solidFill>
                <a:latin typeface="微软雅黑"/>
              </a:rPr>
              <a:t>在线链接 · 源码仓库 · 3 分钟演示视频 · 作品介绍 PPT · 对话记录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572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豆包战队 · 深圳大学计算机与软件学院 · 人工智能专业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5166360"/>
            <a:ext cx="10698480" cy="65836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3218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3B82F6"/>
                </a:solidFill>
                <a:latin typeface="微软雅黑"/>
              </a:rP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