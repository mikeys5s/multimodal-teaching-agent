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0"/>
            <a:ext cx="3840480" cy="2377440"/>
          </a:xfrm>
          <a:prstGeom prst="rect">
            <a:avLst/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502920"/>
            <a:ext cx="402336" cy="402336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30352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析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48" y="56692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 panose="020B0503020204020204" charset="-122"/>
              </a:rPr>
              <a:t>粤港澳大湾区 AI Coding 创新大赛 · 方向一「AI + 教学管理助手」</a:t>
            </a:r>
            <a:endParaRPr sz="14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828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6600" b="1">
                <a:solidFill>
                  <a:srgbClr val="0F172A"/>
                </a:solidFill>
                <a:latin typeface="微软雅黑" panose="020B0503020204020204" charset="-122"/>
              </a:rPr>
              <a:t>析知 XiZhi</a:t>
            </a:r>
            <a:endParaRPr sz="6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3B82F6"/>
                </a:solidFill>
                <a:latin typeface="微软雅黑" panose="020B0503020204020204" charset="-122"/>
              </a:rPr>
              <a:t>多模态教学智能体</a:t>
            </a:r>
            <a:endParaRPr sz="26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5528" y="3547872"/>
            <a:ext cx="100584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微软雅黑" panose="020B0503020204020204" charset="-122"/>
              </a:rPr>
              <a:t>AI 预抽取 + 人工校验的知识点依赖图 · 可解释的学习路径与卡点根因回溯</a:t>
            </a:r>
            <a:endParaRPr sz="17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6B6D4"/>
                </a:solidFill>
                <a:latin typeface="Consolas" panose="020B0609020204030204"/>
              </a:rPr>
              <a:t>3</a:t>
            </a:r>
            <a:endParaRPr sz="28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" y="5029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阶段管线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4872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6B6D4"/>
                </a:solidFill>
                <a:latin typeface="Consolas" panose="020B0609020204030204"/>
              </a:rPr>
              <a:t>213</a:t>
            </a:r>
            <a:endParaRPr sz="28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04872" y="5029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知识点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50792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6B6D4"/>
                </a:solidFill>
                <a:latin typeface="Consolas" panose="020B0609020204030204"/>
              </a:rPr>
              <a:t>229</a:t>
            </a:r>
            <a:endParaRPr sz="28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50792" y="5029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依赖边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96712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6B6D4"/>
                </a:solidFill>
                <a:latin typeface="Consolas" panose="020B0609020204030204"/>
              </a:rPr>
              <a:t>0</a:t>
            </a:r>
            <a:endParaRPr sz="28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96712" y="5029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环数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豆包战队 · 深圳大学计算机与软件学院 · 人工智能专业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01 · 作品简介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它解决的是学生的什么痛点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600200"/>
            <a:ext cx="5212080" cy="1920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8097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4155"/>
                </a:solidFill>
                <a:latin typeface="微软雅黑" panose="020B0503020204020204" charset="-122"/>
              </a:rPr>
              <a:t>痛点</a:t>
            </a:r>
            <a:endParaRPr sz="14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4155"/>
                </a:solidFill>
                <a:latin typeface="微软雅黑" panose="020B0503020204020204" charset="-122"/>
              </a:rPr>
              <a:t>老师发一份讲义、拍一张板书，学生看不懂、做题卡住</a:t>
            </a:r>
            <a:endParaRPr sz="14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4155"/>
                </a:solidFill>
                <a:latin typeface="微软雅黑" panose="020B0503020204020204" charset="-122"/>
              </a:rPr>
              <a:t>—— 而「卡在哪」往往说不清，只能从头再看一遍。</a:t>
            </a:r>
            <a:endParaRPr sz="14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5352" y="1600200"/>
            <a:ext cx="5212080" cy="1920240"/>
          </a:xfrm>
          <a:prstGeom prst="rect">
            <a:avLst/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097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E3A8A"/>
                </a:solidFill>
                <a:latin typeface="微软雅黑" panose="020B0503020204020204" charset="-122"/>
              </a:rPr>
              <a:t>析知做的</a:t>
            </a:r>
            <a:endParaRPr sz="1400" b="0">
              <a:solidFill>
                <a:srgbClr val="1E3A8A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E3A8A"/>
                </a:solidFill>
                <a:latin typeface="微软雅黑" panose="020B0503020204020204" charset="-122"/>
              </a:rPr>
              <a:t>把图文材料变成可检索、可溯源、有依赖关系的知识骨架</a:t>
            </a:r>
            <a:endParaRPr sz="1400" b="0">
              <a:solidFill>
                <a:srgbClr val="1E3A8A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E3A8A"/>
                </a:solidFill>
                <a:latin typeface="微软雅黑" panose="020B0503020204020204" charset="-122"/>
              </a:rPr>
              <a:t>—— 再据此做苏格拉底式答疑。</a:t>
            </a:r>
            <a:endParaRPr sz="1400" b="0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952" y="3703320"/>
            <a:ext cx="10698480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1363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一句话口径：别直接给答案，帮我搞懂我卡在哪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4846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三个断点 → 三件事：读不进去（格式混着，检索不到一起）⇒ 统一转 Markdown；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理不清（材料线性、知识有依赖）⇒ 抽三级结构 + 依赖图；问不明白（工具直接给答案）⇒ 状态机驱动的引导式答疑。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02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02 · 赛题方向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方向一「AI + 教学管理助手」· 手册五要素对照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11556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手册要求的五要素，在本 PPT 里的位置：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1069848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691640"/>
            <a:ext cx="4572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作品简介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6160" y="18562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Consolas" panose="020B0609020204030204"/>
              </a:rPr>
              <a:t>第 2 页</a:t>
            </a:r>
            <a:endParaRPr sz="1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4960" y="186537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面向什么教学场景、解决什么断点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" y="2496312"/>
            <a:ext cx="1069848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" y="2496312"/>
            <a:ext cx="4572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426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赛题方向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66160" y="26609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Consolas" panose="020B0609020204030204"/>
              </a:rPr>
              <a:t>本页</a:t>
            </a:r>
            <a:endParaRPr sz="1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4960" y="26700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与方向一的对应关系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8952" y="3300984"/>
            <a:ext cx="1069848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" y="3300984"/>
            <a:ext cx="4572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AI 能力说明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6160" y="34655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Consolas" panose="020B0609020204030204"/>
              </a:rPr>
              <a:t>第 6 / 8 页</a:t>
            </a:r>
            <a:endParaRPr sz="1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4960" y="34747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AI 在链路中承担什么、刻意不承担什么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8952" y="4105656"/>
            <a:ext cx="1069848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" y="4105656"/>
            <a:ext cx="4572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技术方案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66160" y="42702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Consolas" panose="020B0609020204030204"/>
              </a:rPr>
              <a:t>第 4 / 5 页</a:t>
            </a:r>
            <a:endParaRPr sz="1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0" y="427939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四层架构 · 核心创新 · 关键取舍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8952" y="4910328"/>
            <a:ext cx="1069848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910328"/>
            <a:ext cx="4572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0566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团队成员信息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5074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Consolas" panose="020B0609020204030204"/>
              </a:rPr>
              <a:t>第 11 页</a:t>
            </a:r>
            <a:endParaRPr sz="1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94960" y="508406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分工与专业背景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952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A580C"/>
                </a:solidFill>
                <a:latin typeface="微软雅黑" panose="020B0503020204020204" charset="-122"/>
              </a:rPr>
              <a:t>⚠️ 手册明确禁止出现「我们来自不同专业」—— 三人同属计算机与软件学院 · 人工智能专业。</a:t>
            </a:r>
            <a:endParaRPr sz="1200" b="0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03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67E8F9"/>
                </a:solidFill>
                <a:latin typeface="微软雅黑" panose="020B0503020204020204" charset="-122"/>
              </a:rPr>
              <a:t>03 · 核心创新点 · ★ 全片最重要的一页</a:t>
            </a:r>
            <a:endParaRPr sz="1100" b="1">
              <a:solidFill>
                <a:srgbClr val="67E8F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AI 预抽取 + 人工校验的依赖图构建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3C5FD"/>
                </a:solidFill>
                <a:latin typeface="微软雅黑" panose="020B0503020204020204" charset="-122"/>
              </a:rPr>
              <a:t>并首次把「教学依赖图必须无环」作为工程不变量强制保证</a:t>
            </a:r>
            <a:endParaRPr sz="1500" b="0">
              <a:solidFill>
                <a:srgbClr val="93C5F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8952" y="2103120"/>
            <a:ext cx="5212080" cy="1783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103120"/>
            <a:ext cx="5212080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写库前校验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70662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环校验在完整图上做，不是截断后的子图；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违规即剪枝，且同时报出被剪数量与待复核数量。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5352" y="2103120"/>
            <a:ext cx="5212080" cy="1783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2103120"/>
            <a:ext cx="5212080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677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双通道融合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270662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结构线索 × 语义线索两条通道独立判前置；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冲突不静默采纳，降 confidence 标 needs_review。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8952" y="4114800"/>
            <a:ext cx="5212080" cy="1783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4114800"/>
            <a:ext cx="5212080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793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边带理由 + 溯源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471830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每条 hard 边带 reason + 材料原文引用；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理由完备率 100%，可逐条复核。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45352" y="4114800"/>
            <a:ext cx="5212080" cy="1783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4114800"/>
            <a:ext cx="5212080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793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根因回溯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471830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卡点时反向回溯是哪条前置没懂；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路径与根因都可解释，不是黑箱排序。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" y="6172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可当场验证：图上 213 节点 / 229 边，环数 = 0　·　空白依据：DeepTutor（3.44 万★）无依赖图；Marble（3849★）有依赖图但人工标注、不读材料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04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04 · 技术方案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四层架构，其中两层零模型依赖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691640"/>
            <a:ext cx="10698480" cy="7863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691640"/>
            <a:ext cx="45720" cy="7863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① 解析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8470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PaddleOCR（本地）→ 统一转 Markdown（带页码锚点）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6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依赖模型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952" y="2587752"/>
            <a:ext cx="10698480" cy="7863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2587752"/>
            <a:ext cx="45720" cy="7863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066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② 结构化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知识点三级结构（章 / 节 / 知识点），完整率与溯源覆盖率 100%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0" y="27706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依赖模型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8952" y="3483864"/>
            <a:ext cx="10698480" cy="786384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3483864"/>
            <a:ext cx="45720" cy="7863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027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③ 图推理 ⭐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36393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依赖图校验 / 环路剪枝 / 学习路径 / 卡点回溯 —— 纯标准库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66960" y="3666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1">
                <a:solidFill>
                  <a:srgbClr val="06B6D4"/>
                </a:solidFill>
                <a:latin typeface="微软雅黑" panose="020B0503020204020204" charset="-122"/>
              </a:rPr>
              <a:t>零模型依赖</a:t>
            </a:r>
            <a:endParaRPr sz="12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8952" y="4379976"/>
            <a:ext cx="10698480" cy="7863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4379976"/>
            <a:ext cx="45720" cy="78638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98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④ 答疑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0" y="453542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状态机驱动的苏格拉底式引导（提问 → 提示 → 讲解）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66960" y="45628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</a:rPr>
              <a:t>依赖模型</a:t>
            </a:r>
            <a:endParaRPr sz="120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8952" y="5349240"/>
            <a:ext cx="10698480" cy="566928"/>
          </a:xfrm>
          <a:prstGeom prst="rect">
            <a:avLst/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3B82F6"/>
                </a:solidFill>
                <a:latin typeface="微软雅黑" panose="020B0503020204020204" charset="-122"/>
              </a:rPr>
              <a:t>⭐ 关键路径放在确定性算法上，LLM 只做增强</a:t>
            </a:r>
            <a:endParaRPr sz="15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05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05 · AI 能力说明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AI 干粗活 + 人做裁决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645920"/>
            <a:ext cx="52120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AI 承担（粗活）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2286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解析图文材料、识别版面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抽取候选知识点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提出依赖边候选（带 reason）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生成答疑正文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5352" y="1645920"/>
            <a:ext cx="5212080" cy="237744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AI 刻意不承担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3952" y="2286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依赖图校验 / 环路剪枝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学习路径排序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卡点根因回溯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· 全部纯标准库、零模型依赖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" y="4206240"/>
            <a:ext cx="10698480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我们不说「全自动抽取」—— 说「AI 干粗活 + 人做裁决」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5212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代码注释原话：「不调用任何模型 —— 这是 SPEC §4.8『LLM 移出关键路径』的具体落地」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候选边全部带 needs_review 标记 + 理由 + 原文出处，交给复核队列由人采纳或驳回。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06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06 · 技术方案 · 校验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工程完整性的可视证据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691640"/>
            <a:ext cx="10698480" cy="7315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7393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6B6D4"/>
                </a:solidFill>
                <a:latin typeface="微软雅黑" panose="020B0503020204020204" charset="-122"/>
              </a:rPr>
              <a:t>✓</a:t>
            </a:r>
            <a:endParaRPr sz="18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全链路复验 40 项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0" y="181965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scripts/e2e-check.py · 4 层：路由 / API 契约 / 多轮答疑 / 近期改动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952" y="2514600"/>
            <a:ext cx="10698480" cy="7315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6B6D4"/>
                </a:solidFill>
                <a:latin typeface="微软雅黑" panose="020B0503020204020204" charset="-122"/>
              </a:rPr>
              <a:t>✓</a:t>
            </a:r>
            <a:endParaRPr sz="18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部署自检 6 项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3520" y="264261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每次部署自动跑（已接进 deploy.sh），含「代码身份」比对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" y="3337560"/>
            <a:ext cx="10698480" cy="7315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1985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6B6D4"/>
                </a:solidFill>
                <a:latin typeface="微软雅黑" panose="020B0503020204020204" charset="-122"/>
              </a:rPr>
              <a:t>✓</a:t>
            </a:r>
            <a:endParaRPr sz="18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依赖图环数 = 0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520" y="346557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工程不变量，可当场复跑；被剪除的边有独立计数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8952" y="4160520"/>
            <a:ext cx="10698480" cy="7315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4281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6B6D4"/>
                </a:solidFill>
                <a:latin typeface="微软雅黑" panose="020B0503020204020204" charset="-122"/>
              </a:rPr>
              <a:t>✓</a:t>
            </a:r>
            <a:endParaRPr sz="18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hard 边理由完备率 100%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428853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每条边带 reason + 材料原文引用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8952" y="4983480"/>
            <a:ext cx="10698480" cy="7315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65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6B6D4"/>
                </a:solidFill>
                <a:latin typeface="微软雅黑" panose="020B0503020204020204" charset="-122"/>
              </a:rPr>
              <a:t>✓</a:t>
            </a:r>
            <a:endParaRPr sz="18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304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</a:rPr>
              <a:t>幻觉率 0</a:t>
            </a:r>
            <a:endParaRPr sz="1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20" y="511149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检索不到就明说「材料里没有」，不猜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8952" y="5897880"/>
            <a:ext cx="10698480" cy="457200"/>
          </a:xfrm>
          <a:prstGeom prst="rect">
            <a:avLst/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9710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3B82F6"/>
                </a:solidFill>
                <a:latin typeface="微软雅黑" panose="020B0503020204020204" charset="-122"/>
              </a:rPr>
              <a:t>⭐ 校验不是「我们说测过了」，是「你也能跑一遍」</a:t>
            </a:r>
            <a:endParaRPr sz="1400" b="1">
              <a:solidFill>
                <a:srgbClr val="3B82F6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07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07 · 演示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可解释的学习路径：每一步都带理由 + 教材原文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屏幕截图 2026-10-11 18344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277" y="1600200"/>
            <a:ext cx="659113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" y="568325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以「慢启动的第二种场景」为目标的实测 3 步路径；⭐ 有一条跨章边最强：教材原文自己写了「Recall how TCP's sliding window algorithm works」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08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A580C"/>
                </a:solidFill>
                <a:latin typeface="微软雅黑" panose="020B0503020204020204" charset="-122"/>
              </a:rPr>
              <a:t>08 · 我们主动说的不足 · ★ 这一页是差异化</a:t>
            </a:r>
            <a:endParaRPr sz="11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两个瑕疵，以及我们怎么处置的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737360"/>
            <a:ext cx="10698480" cy="1874519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737360"/>
            <a:ext cx="45720" cy="1874519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A580C"/>
                </a:solidFill>
                <a:latin typeface="微软雅黑" panose="020B0503020204020204" charset="-122"/>
              </a:rPr>
              <a:t>瑕疵一 · 数据有过重复</a:t>
            </a:r>
            <a:endParaRPr sz="16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2359152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早先版本里同一份材料被抽了多遍，副本混进图里。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根因是一个可定位的 bug（「章内序号」被当成全局序号用）—— 已修 + 已重跑：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副本从 483（bug 产物）降到 67（材料本身的真重复，我们只标注、不删数据）。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952" y="3794760"/>
            <a:ext cx="10698480" cy="1874519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3794760"/>
            <a:ext cx="45720" cy="1874519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59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A580C"/>
                </a:solidFill>
                <a:latin typeface="微软雅黑" panose="020B0503020204020204" charset="-122"/>
              </a:rPr>
              <a:t>瑕疵二 · 有一条边与 AI 判向相反</a:t>
            </a:r>
            <a:endParaRPr sz="16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4416552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AI 按文档顺序抽出的方向是「滑动窗口 → TCP」，而我们读原文判定：要先懂 TCP 的字节流。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我们不灌它，留在复核队列 —— 它正好是「人做裁决」的实例。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0F172A"/>
                </a:solidFill>
                <a:latin typeface="微软雅黑" panose="020B0503020204020204" charset="-122"/>
              </a:rPr>
              <a:t>⇒ 我们宁可显示「不知道」，不显示「像知道」。</a:t>
            </a:r>
            <a:endParaRPr sz="14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09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09 · AI 工具使用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用了多少 · 以及刻意不用的地方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1645920"/>
            <a:ext cx="5212080" cy="1371600"/>
          </a:xfrm>
          <a:prstGeom prst="rect">
            <a:avLst/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3B82F6"/>
                </a:solidFill>
                <a:latin typeface="Consolas" panose="020B0609020204030204"/>
              </a:rPr>
              <a:t>241 轮对话</a:t>
            </a:r>
            <a:endParaRPr sz="30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14 天 · 完整逐字记录随作品提交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5352" y="1645920"/>
            <a:ext cx="521208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06B6D4"/>
                </a:solidFill>
                <a:latin typeface="Consolas" panose="020B0609020204030204"/>
              </a:rPr>
              <a:t>0 次调用</a:t>
            </a:r>
            <a:endParaRPr sz="3000" b="1">
              <a:solidFill>
                <a:srgbClr val="06B6D4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3952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三个核心算法：依赖图校验 / 学习路径 / 卡点回溯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" y="3291840"/>
            <a:ext cx="10698480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930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⭐ 刻意不用 AI 的地方：代码注释原话「不调用任何模型」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4389120"/>
            <a:ext cx="10698480" cy="181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这是 SPEC §4.8「LLM 移出关键路径」的具体落地 ——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解析与抽取交给模型（粗活，允许不确定性）；而依赖图校验 / 学习路径排序 / 卡点回溯这三件事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是评委要验的「教学逻辑」，必须可复现、可离线、可当场跑。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</a:rPr>
              <a:t>⇒ 核心原则：AI 干粗活 + 人做裁决（我们不说「全自动抽取」）。</a:t>
            </a:r>
            <a:endParaRPr sz="13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10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10 · 团队成员信息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>
                <a:solidFill>
                  <a:srgbClr val="0F172A"/>
                </a:solidFill>
                <a:latin typeface="微软雅黑" panose="020B0503020204020204" charset="-122"/>
              </a:rPr>
              <a:t>三人分工</a:t>
            </a:r>
            <a:endParaRPr sz="29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758952" y="1691640"/>
            <a:ext cx="1069848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758952" y="169164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051560" y="189280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3B82F6"/>
                </a:solidFill>
                <a:latin typeface="Consolas" panose="020B0609020204030204"/>
              </a:rPr>
              <a:t>P1</a:t>
            </a:r>
            <a:endParaRPr sz="2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103120" y="1856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解析工程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103120" y="2258568"/>
            <a:ext cx="2743200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300" b="0">
                <a:solidFill>
                  <a:srgbClr val="64748B"/>
                </a:solidFill>
                <a:latin typeface="Consolas" panose="020B0609020204030204"/>
              </a:rPr>
              <a:t>李坦达</a:t>
            </a:r>
            <a:endParaRPr lang="zh-CN" sz="13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394960" y="202082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材料解析 / 知识点抽取 / 依赖边候选 / 海报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758952" y="2880360"/>
            <a:ext cx="1069848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8"/>
            </p:custDataLst>
          </p:nvPr>
        </p:nvSpPr>
        <p:spPr>
          <a:xfrm>
            <a:off x="758952" y="288036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1051560" y="308152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3B82F6"/>
                </a:solidFill>
                <a:latin typeface="Consolas" panose="020B0609020204030204"/>
              </a:rPr>
              <a:t>P2</a:t>
            </a:r>
            <a:endParaRPr sz="2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2103120" y="3044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数据与结构化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2103120" y="3447288"/>
            <a:ext cx="2743200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300" b="0">
                <a:solidFill>
                  <a:srgbClr val="64748B"/>
                </a:solidFill>
                <a:latin typeface="Consolas" panose="020B0609020204030204"/>
              </a:rPr>
              <a:t>吕浩宏</a:t>
            </a:r>
            <a:endParaRPr lang="zh-CN" sz="13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394960" y="320954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知识图谱 / 检索 / 校验体系 / 本 PPT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13"/>
            </p:custDataLst>
          </p:nvPr>
        </p:nvSpPr>
        <p:spPr>
          <a:xfrm>
            <a:off x="758952" y="4069080"/>
            <a:ext cx="1069848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4"/>
            </p:custDataLst>
          </p:nvPr>
        </p:nvSpPr>
        <p:spPr>
          <a:xfrm>
            <a:off x="758952" y="4069080"/>
            <a:ext cx="4572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1051560" y="427024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3B82F6"/>
                </a:solidFill>
                <a:latin typeface="Consolas" panose="020B0609020204030204"/>
              </a:rPr>
              <a:t>P3</a:t>
            </a:r>
            <a:endParaRPr sz="2400" b="1">
              <a:solidFill>
                <a:srgbClr val="3B82F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210312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F172A"/>
                </a:solidFill>
                <a:latin typeface="微软雅黑" panose="020B0503020204020204" charset="-122"/>
              </a:rPr>
              <a:t>前端与交互</a:t>
            </a:r>
            <a:endParaRPr sz="17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7"/>
            </p:custDataLst>
          </p:nvPr>
        </p:nvSpPr>
        <p:spPr>
          <a:xfrm>
            <a:off x="2103120" y="4636008"/>
            <a:ext cx="2743200" cy="37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300" b="0">
                <a:solidFill>
                  <a:srgbClr val="64748B"/>
                </a:solidFill>
                <a:latin typeface="Consolas" panose="020B0609020204030204"/>
              </a:rPr>
              <a:t>甄文校</a:t>
            </a:r>
            <a:endParaRPr lang="zh-CN" sz="1300" b="0">
              <a:solidFill>
                <a:srgbClr val="64748B"/>
              </a:solidFill>
              <a:latin typeface="Consolas" panose="020B0609020204030204"/>
            </a:endParaRPr>
          </a:p>
        </p:txBody>
      </p:sp>
      <p:sp>
        <p:nvSpPr>
          <p:cNvPr id="21" name="TextBox 20"/>
          <p:cNvSpPr txBox="1"/>
          <p:nvPr>
            <p:custDataLst>
              <p:tags r:id="rId18"/>
            </p:custDataLst>
          </p:nvPr>
        </p:nvSpPr>
        <p:spPr>
          <a:xfrm>
            <a:off x="5394960" y="439826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 panose="020B0503020204020204" charset="-122"/>
              </a:rPr>
              <a:t>界面 / 图谱可视化 / 交互 / 演示</a:t>
            </a:r>
            <a:endParaRPr sz="1300" b="0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" y="5486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三人同属深圳大学计算机与软件学院 · 人工智能专业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在线演示  http://120.77.177.171:8000　·　源码仓库  https://gitee.com/mikey_code/multimodal-teaching-agent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析知 XiZhi · 多模态教学智能体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97135" y="6382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</a:rPr>
              <a:t>11 / 11</a:t>
            </a:r>
            <a:endParaRPr sz="12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2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3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4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5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6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7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8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9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0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1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2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3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4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5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6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7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ags/tag18.xml><?xml version="1.0" encoding="utf-8"?>
<p:tagLst xmlns:p="http://schemas.openxmlformats.org/presentationml/2006/main">
  <p:tag name="KSO_WM_DIAGRAM_VIRTUALLY_FRAME" val="{&quot;height&quot;:270,&quot;left&quot;:59.760000000000005,&quot;top&quot;:133.2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2825</Words>
  <Application>WPS 演示</Application>
  <PresentationFormat>On-screen Show (4:3)</PresentationFormat>
  <Paragraphs>314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Mikeys</cp:lastModifiedBy>
  <cp:revision>4</cp:revision>
  <dcterms:created xsi:type="dcterms:W3CDTF">2013-01-27T09:14:00Z</dcterms:created>
  <dcterms:modified xsi:type="dcterms:W3CDTF">2026-10-11T10:59:15Z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6665B4D97D064B209E9BCBB99A0C9C11_12</vt:lpwstr>
  </property>
  <property fmtid="{D5CDD505-2E9C-101B-9397-08002B2CF9AE}" pid="3" name="KSOProductBuildVer">
    <vt:lpwstr>2052-12.1.0.28488</vt:lpwstr>
  </property>
</Properties>
</file>