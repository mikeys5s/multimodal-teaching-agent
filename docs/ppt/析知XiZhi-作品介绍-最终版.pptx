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0"/>
            <a:ext cx="3840480" cy="2377440"/>
          </a:xfrm>
          <a:prstGeom prst="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58952" y="502920"/>
            <a:ext cx="402336" cy="402336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" y="53035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</a:pPr>
            <a:r>
              <a:rPr sz="1700" b="1">
                <a:solidFill>
                  <a:srgbClr val="FFFFFF"/>
                </a:solidFill>
                <a:latin typeface="微软雅黑"/>
              </a:rPr>
              <a:t>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56692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4748B"/>
                </a:solidFill>
                <a:latin typeface="微软雅黑"/>
              </a:rPr>
              <a:t>粤港澳大湾区 AI Coding 创新大赛 · 方向一「AI + 教学管理助手」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8288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6600" b="1">
                <a:solidFill>
                  <a:srgbClr val="0F172A"/>
                </a:solidFill>
                <a:latin typeface="微软雅黑"/>
              </a:rPr>
              <a:t>析知 XiZhi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077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B82F6"/>
                </a:solidFill>
                <a:latin typeface="微软雅黑"/>
              </a:rPr>
              <a:t>多模态教学智能体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8" y="3547872"/>
            <a:ext cx="100584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3794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1A1A1A"/>
                </a:solidFill>
                <a:latin typeface="微软雅黑"/>
              </a:rPr>
              <a:t>AI 预抽取 + 人工校验的知识点依赖图 · 可解释的学习路径与卡点根因回溯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5720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6B6D4"/>
                </a:solidFill>
                <a:latin typeface="Consolas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50292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阶段管线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04872" y="45720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6B6D4"/>
                </a:solidFill>
                <a:latin typeface="Consolas"/>
              </a:rPr>
              <a:t>213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4872" y="50292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知识点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45720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6B6D4"/>
                </a:solidFill>
                <a:latin typeface="Consolas"/>
              </a:rPr>
              <a:t>229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0792" y="50292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依赖边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96712" y="45720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6B6D4"/>
                </a:solidFill>
                <a:latin typeface="Consolas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96712" y="50292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环数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5669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豆包战队 · 深圳大学计算机与软件学院 · 人工智能专业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6B6D4"/>
                </a:solidFill>
                <a:latin typeface="微软雅黑"/>
              </a:rPr>
              <a:t>01 · 作品简介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64008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b="1">
                <a:solidFill>
                  <a:srgbClr val="0F172A"/>
                </a:solidFill>
                <a:latin typeface="微软雅黑"/>
              </a:rPr>
              <a:t>它解决的是学生的什么痛点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1600200"/>
            <a:ext cx="5212080" cy="1920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37360"/>
            <a:ext cx="480974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334155"/>
                </a:solidFill>
                <a:latin typeface="微软雅黑"/>
              </a:rPr>
              <a:t>痛点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334155"/>
                </a:solidFill>
                <a:latin typeface="微软雅黑"/>
              </a:rPr>
              <a:t>老师发一份讲义、拍一张板书，学生看不懂、做题卡住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334155"/>
                </a:solidFill>
                <a:latin typeface="微软雅黑"/>
              </a:rPr>
              <a:t>—— 而「卡在哪」往往说不清，只能从头再看一遍。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45352" y="1600200"/>
            <a:ext cx="5212080" cy="1920240"/>
          </a:xfrm>
          <a:prstGeom prst="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737360"/>
            <a:ext cx="480974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1E3A8A"/>
                </a:solidFill>
                <a:latin typeface="微软雅黑"/>
              </a:rPr>
              <a:t>析知做的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E3A8A"/>
                </a:solidFill>
                <a:latin typeface="微软雅黑"/>
              </a:rPr>
              <a:t>把图文材料变成可检索、可溯源、有依赖关系的知识骨架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E3A8A"/>
                </a:solidFill>
                <a:latin typeface="微软雅黑"/>
              </a:rPr>
              <a:t>—— 再据此做苏格拉底式答疑。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" y="3703320"/>
            <a:ext cx="10698480" cy="9144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913632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</a:rPr>
              <a:t>一句话口径：别直接给答案，帮我搞懂我卡在哪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846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三个断点 → 三件事：读不进去（格式混着，检索不到一起）⇒ 统一转 Markdown；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理不清（材料线性、知识有依赖）⇒ 抽三级结构 + 依赖图；问不明白（工具直接给答案）⇒ 状态机驱动的引导式答疑。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析知 XiZhi · 多模态教学智能体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6B6D4"/>
                </a:solidFill>
                <a:latin typeface="微软雅黑"/>
              </a:rPr>
              <a:t>02 · 赛题方向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64008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b="1">
                <a:solidFill>
                  <a:srgbClr val="0F172A"/>
                </a:solidFill>
                <a:latin typeface="微软雅黑"/>
              </a:rPr>
              <a:t>方向一「AI + 教学管理助手」· 手册五要素对照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115568"/>
            <a:ext cx="10698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手册要求的五要素，在本 PPT 里的位置：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691640"/>
            <a:ext cx="10698480" cy="6858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8952" y="1691640"/>
            <a:ext cx="45720" cy="685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37944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作品简介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856232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3B82F6"/>
                </a:solidFill>
                <a:latin typeface="Consolas"/>
              </a:rPr>
              <a:t>第 2 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1865376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面向什么教学场景、解决什么断点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" y="2496312"/>
            <a:ext cx="10698480" cy="6858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" y="2496312"/>
            <a:ext cx="45720" cy="685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642616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赛题方向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660904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3B82F6"/>
                </a:solidFill>
                <a:latin typeface="Consolas"/>
              </a:rPr>
              <a:t>本页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67004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与方向一的对应关系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" y="3300984"/>
            <a:ext cx="10698480" cy="6858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2" y="3300984"/>
            <a:ext cx="45720" cy="685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44728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AI 能力说明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465576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3B82F6"/>
                </a:solidFill>
                <a:latin typeface="Consolas"/>
              </a:rPr>
              <a:t>第 6 / 8 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347472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AI 在链路中承担什么、刻意不承担什么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" y="4105656"/>
            <a:ext cx="10698480" cy="6858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8952" y="4105656"/>
            <a:ext cx="45720" cy="685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2519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技术方案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427024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3B82F6"/>
                </a:solidFill>
                <a:latin typeface="Consolas"/>
              </a:rPr>
              <a:t>第 4 / 5 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4279392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四层架构 · 核心创新 · 关键取舍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4910328"/>
            <a:ext cx="10698480" cy="6858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910328"/>
            <a:ext cx="45720" cy="685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05663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团队成员信息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5074920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3B82F6"/>
                </a:solidFill>
                <a:latin typeface="Consolas"/>
              </a:rPr>
              <a:t>第 11 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5084064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分工与专业背景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A580C"/>
                </a:solidFill>
                <a:latin typeface="微软雅黑"/>
              </a:rPr>
              <a:t>⚠️ 手册明确禁止出现「我们来自不同专业」—— 三人同属计算机与软件学院 · 人工智能专业。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析知 XiZhi · 多模态教学智能体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7373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365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67E8F9"/>
                </a:solidFill>
                <a:latin typeface="微软雅黑"/>
              </a:rPr>
              <a:t>03 · 核心创新点 · ★ 全片最重要的一页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AI 预抽取 + 人工校验的依赖图构建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29844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93C5FD"/>
                </a:solidFill>
                <a:latin typeface="微软雅黑"/>
              </a:rPr>
              <a:t>并首次把「教学依赖图必须无环」作为工程不变量强制保证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2103120"/>
            <a:ext cx="5212080" cy="17830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2103120"/>
            <a:ext cx="5212080" cy="5029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6771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写库前校验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06624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环校验在完整图上做，不是截断后的子图；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违规即剪枝，且同时报出被剪数量与待复核数量。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2103120"/>
            <a:ext cx="5212080" cy="17830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2103120"/>
            <a:ext cx="5212080" cy="5029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6771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双通道融合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706624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结构线索 × 语义线索两条通道独立判前置；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冲突不静默采纳，降 confidence 标 needs_review。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" y="4114800"/>
            <a:ext cx="5212080" cy="17830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8952" y="4114800"/>
            <a:ext cx="5212080" cy="5029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793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边带理由 + 溯源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718304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每条 hard 边带 reason + 材料原文引用；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理由完备率 100%，可逐条复核。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352" y="4114800"/>
            <a:ext cx="5212080" cy="17830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4114800"/>
            <a:ext cx="5212080" cy="5029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2793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根因回溯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718304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卡点时反向回溯是哪条前置没懂；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路径与根因都可解释，不是黑箱排序。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" y="6172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可当场验证：图上 213 节点 / 229 边，环数 = 0　·　空白依据：DeepTutor（3.44 万★）无依赖图；Marble（3849★）有依赖图但人工标注、不读材料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析知 XiZhi · 多模态教学智能体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6B6D4"/>
                </a:solidFill>
                <a:latin typeface="微软雅黑"/>
              </a:rPr>
              <a:t>04 · 技术方案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64008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b="1">
                <a:solidFill>
                  <a:srgbClr val="0F172A"/>
                </a:solidFill>
                <a:latin typeface="微软雅黑"/>
              </a:rPr>
              <a:t>四层架构，其中两层零模型依赖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1691640"/>
            <a:ext cx="10698480" cy="7863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1691640"/>
            <a:ext cx="45720" cy="78638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0F172A"/>
                </a:solidFill>
                <a:latin typeface="微软雅黑"/>
              </a:rPr>
              <a:t>① 解析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847088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334155"/>
                </a:solidFill>
                <a:latin typeface="微软雅黑"/>
              </a:rPr>
              <a:t>PaddleOCR（本地）→ 统一转 Markdown（带页码锚点）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1874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1">
                <a:solidFill>
                  <a:srgbClr val="64748B"/>
                </a:solidFill>
                <a:latin typeface="微软雅黑"/>
              </a:rPr>
              <a:t>依赖模型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" y="2587752"/>
            <a:ext cx="10698480" cy="7863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" y="2587752"/>
            <a:ext cx="45720" cy="78638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06624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0F172A"/>
                </a:solidFill>
                <a:latin typeface="微软雅黑"/>
              </a:rPr>
              <a:t>② 结构化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74320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334155"/>
                </a:solidFill>
                <a:latin typeface="微软雅黑"/>
              </a:rPr>
              <a:t>知识点三级结构（章 / 节 / 知识点），完整率与溯源覆盖率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77063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1">
                <a:solidFill>
                  <a:srgbClr val="64748B"/>
                </a:solidFill>
                <a:latin typeface="微软雅黑"/>
              </a:rPr>
              <a:t>依赖模型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" y="3483864"/>
            <a:ext cx="10698480" cy="786384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8952" y="3483864"/>
            <a:ext cx="45720" cy="78638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02736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0F172A"/>
                </a:solidFill>
                <a:latin typeface="微软雅黑"/>
              </a:rPr>
              <a:t>③ 图推理 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639312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334155"/>
                </a:solidFill>
                <a:latin typeface="微软雅黑"/>
              </a:rPr>
              <a:t>依赖图校验 / 环路剪枝 / 学习路径 / 卡点回溯 —— 纯标准库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366674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1">
                <a:solidFill>
                  <a:srgbClr val="06B6D4"/>
                </a:solidFill>
                <a:latin typeface="微软雅黑"/>
              </a:rPr>
              <a:t>零模型依赖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" y="4379976"/>
            <a:ext cx="10698480" cy="7863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4379976"/>
            <a:ext cx="45720" cy="78638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49884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0F172A"/>
                </a:solidFill>
                <a:latin typeface="微软雅黑"/>
              </a:rPr>
              <a:t>④ 答疑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535424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334155"/>
                </a:solidFill>
                <a:latin typeface="微软雅黑"/>
              </a:rPr>
              <a:t>状态机驱动的苏格拉底式引导（提问 → 提示 → 讲解）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456285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1">
                <a:solidFill>
                  <a:srgbClr val="64748B"/>
                </a:solidFill>
                <a:latin typeface="微软雅黑"/>
              </a:rPr>
              <a:t>依赖模型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8952" y="5349240"/>
            <a:ext cx="10698480" cy="566928"/>
          </a:xfrm>
          <a:prstGeom prst="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48640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3B82F6"/>
                </a:solidFill>
                <a:latin typeface="微软雅黑"/>
              </a:rPr>
              <a:t>⭐ 关键路径放在确定性算法上，LLM 只做增强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析知 XiZhi · 多模态教学智能体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6B6D4"/>
                </a:solidFill>
                <a:latin typeface="微软雅黑"/>
              </a:rPr>
              <a:t>05 · AI 能力说明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64008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b="1">
                <a:solidFill>
                  <a:srgbClr val="0F172A"/>
                </a:solidFill>
                <a:latin typeface="微软雅黑"/>
              </a:rPr>
              <a:t>AI 干粗活 + 人做裁决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1645920"/>
            <a:ext cx="5212080" cy="23774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81051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0F172A"/>
                </a:solidFill>
                <a:latin typeface="微软雅黑"/>
              </a:rPr>
              <a:t>AI 承担（粗活）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22860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· 解析图文材料、识别版面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· 抽取候选知识点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· 提出依赖边候选（带 reason）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· 生成答疑正文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645920"/>
            <a:ext cx="5212080" cy="237744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181051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0F172A"/>
                </a:solidFill>
                <a:latin typeface="微软雅黑"/>
              </a:rPr>
              <a:t>AI 刻意不承担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2860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· 依赖图校验 / 环路剪枝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· 学习路径排序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· 卡点根因回溯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· 全部纯标准库、零模型依赖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" y="4206240"/>
            <a:ext cx="10698480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891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我们不说「全自动抽取」—— 说「AI 干粗活 + 人做裁决」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52120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代码注释原话：「不调用任何模型 —— 这是 SPEC §4.8『LLM 移出关键路径』的具体落地」</a:t>
            </a:r>
          </a:p>
          <a:p>
            <a:pPr algn="l">
              <a:lnSpc>
                <a:spcPct val="17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候选边全部带 needs_review 标记 + 理由 + 原文出处，交给复核队列由人采纳或驳回。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析知 XiZhi · 多模态教学智能体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6B6D4"/>
                </a:solidFill>
                <a:latin typeface="微软雅黑"/>
              </a:rPr>
              <a:t>06 · 技术方案 · 校验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64008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b="1">
                <a:solidFill>
                  <a:srgbClr val="0F172A"/>
                </a:solidFill>
                <a:latin typeface="微软雅黑"/>
              </a:rPr>
              <a:t>工程完整性的可视证据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1691640"/>
            <a:ext cx="10698480" cy="731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73936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6B6D4"/>
                </a:solidFill>
                <a:latin typeface="微软雅黑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783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全链路复验 40 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819656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scripts/e2e-check.py · 4 层：路由 / API 契约 / 多轮答疑 / 近期改动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" y="2514600"/>
            <a:ext cx="10698480" cy="731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96896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6B6D4"/>
                </a:solidFill>
                <a:latin typeface="微软雅黑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06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部署自检 6 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642616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每次部署自动跑（已接进 deploy.sh），含「代码身份」比对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" y="3337560"/>
            <a:ext cx="10698480" cy="731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419856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6B6D4"/>
                </a:solidFill>
                <a:latin typeface="微软雅黑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429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依赖图环数 =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465576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工程不变量，可当场复跑；被剪除的边有独立计数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" y="4160520"/>
            <a:ext cx="10698480" cy="731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242816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6B6D4"/>
                </a:solidFill>
                <a:latin typeface="微软雅黑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251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hard 边理由完备率 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88536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每条边带 reason + 材料原文引用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" y="4983480"/>
            <a:ext cx="10698480" cy="731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065776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6B6D4"/>
                </a:solidFill>
                <a:latin typeface="微软雅黑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074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/>
              </a:rPr>
              <a:t>幻觉率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5111496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检索不到就明说「材料里没有」，不猜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8952" y="5897880"/>
            <a:ext cx="10698480" cy="457200"/>
          </a:xfrm>
          <a:prstGeom prst="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97103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3B82F6"/>
                </a:solidFill>
                <a:latin typeface="微软雅黑"/>
              </a:rPr>
              <a:t>⭐ 校验不是「我们说测过了」，是「你也能跑一遍」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析知 XiZhi · 多模态教学智能体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6B6D4"/>
                </a:solidFill>
                <a:latin typeface="微软雅黑"/>
              </a:rPr>
              <a:t>07 · 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64008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b="1">
                <a:solidFill>
                  <a:srgbClr val="0F172A"/>
                </a:solidFill>
                <a:latin typeface="微软雅黑"/>
              </a:rPr>
              <a:t>可解释的学习路径：每一步都带理由 + 教材原文</a:t>
            </a:r>
          </a:p>
        </p:txBody>
      </p:sp>
      <p:pic>
        <p:nvPicPr>
          <p:cNvPr id="4" name="Picture 3" descr="屏幕截图 2026-10-11 1834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0277" y="1600200"/>
            <a:ext cx="6591139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" y="5760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以「慢启动的第二种场景」为目标的实测 3 步路径；⭐ 有一条跨章边最强：教材原文自己写了「Recall how TCP's sliding window algorithm works」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析知 XiZhi · 多模态教学智能体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EA580C"/>
                </a:solidFill>
                <a:latin typeface="微软雅黑"/>
              </a:rPr>
              <a:t>08 · 我们主动说的不足 · ★ 这一页是差异化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64008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b="1">
                <a:solidFill>
                  <a:srgbClr val="0F172A"/>
                </a:solidFill>
                <a:latin typeface="微软雅黑"/>
              </a:rPr>
              <a:t>两个瑕疵，以及我们怎么处置的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1737360"/>
            <a:ext cx="10698480" cy="1874519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1737360"/>
            <a:ext cx="45720" cy="1874519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EA580C"/>
                </a:solidFill>
                <a:latin typeface="微软雅黑"/>
              </a:rPr>
              <a:t>瑕疵一 · 数据有过重复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59152"/>
            <a:ext cx="10058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334155"/>
                </a:solidFill>
                <a:latin typeface="微软雅黑"/>
              </a:rPr>
              <a:t>早先版本里同一份材料被抽了多遍，副本混进图里。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334155"/>
                </a:solidFill>
                <a:latin typeface="微软雅黑"/>
              </a:rPr>
              <a:t>根因是一个可定位的 bug（「章内序号」被当成全局序号用）—— 已修 + 已重跑：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334155"/>
                </a:solidFill>
                <a:latin typeface="微软雅黑"/>
              </a:rPr>
              <a:t>副本从 483（bug 产物）降到 67（材料本身的真重复，我们只标注、不删数据）。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" y="3794760"/>
            <a:ext cx="10698480" cy="1874519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3794760"/>
            <a:ext cx="45720" cy="1874519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95935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EA580C"/>
                </a:solidFill>
                <a:latin typeface="微软雅黑"/>
              </a:rPr>
              <a:t>瑕疵二 · 有一条边与 AI 判向相反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416552"/>
            <a:ext cx="10058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334155"/>
                </a:solidFill>
                <a:latin typeface="微软雅黑"/>
              </a:rPr>
              <a:t>AI 按文档顺序抽出的方向是「滑动窗口 → TCP」，而我们读原文判定：要先懂 TCP 的字节流。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334155"/>
                </a:solidFill>
                <a:latin typeface="微软雅黑"/>
              </a:rPr>
              <a:t>我们不灌它，留在复核队列 —— 它正好是「人做裁决」的实例。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5943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0F172A"/>
                </a:solidFill>
                <a:latin typeface="微软雅黑"/>
              </a:rPr>
              <a:t>⇒ 我们宁可显示「不知道」，不显示「像知道」。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析知 XiZhi · 多模态教学智能体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6B6D4"/>
                </a:solidFill>
                <a:latin typeface="微软雅黑"/>
              </a:rPr>
              <a:t>09 · AI 工具使用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64008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b="1">
                <a:solidFill>
                  <a:srgbClr val="0F172A"/>
                </a:solidFill>
                <a:latin typeface="微软雅黑"/>
              </a:rPr>
              <a:t>用了多少 · 以及刻意不用的地方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1645920"/>
            <a:ext cx="5212080" cy="1371600"/>
          </a:xfrm>
          <a:prstGeom prst="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828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1">
                <a:solidFill>
                  <a:srgbClr val="3B82F6"/>
                </a:solidFill>
                <a:latin typeface="Consolas"/>
              </a:rPr>
              <a:t>241 轮对话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23774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14 天 · 完整逐字记录随作品提交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645920"/>
            <a:ext cx="5212080" cy="13716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1828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1">
                <a:solidFill>
                  <a:srgbClr val="06B6D4"/>
                </a:solidFill>
                <a:latin typeface="Consolas"/>
              </a:rPr>
              <a:t>0 次调用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3774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三个核心算法：依赖图校验 / 学习路径 / 卡点回溯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" y="3291840"/>
            <a:ext cx="10698480" cy="8686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93008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FFFFFF"/>
                </a:solidFill>
                <a:latin typeface="微软雅黑"/>
              </a:rPr>
              <a:t>⭐ 刻意不用 AI 的地方：代码注释原话「不调用任何模型」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438912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这是 SPEC §4.8「LLM 移出关键路径」的具体落地 ——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解析与抽取交给模型（粗活，允许不确定性）；而**依赖图校验 / 学习路径排序 / 卡点回溯**这三件事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是评委要验的「教学逻辑」，**必须可复现、可离线、可当场跑**。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64748B"/>
                </a:solidFill>
                <a:latin typeface="微软雅黑"/>
              </a:rPr>
              <a:t>⇒ 核心原则：**AI 干粗活 + 人做裁决**（我们不说「全自动抽取」）。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析知 XiZhi · 多模态教学智能体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6B6D4"/>
                </a:solidFill>
                <a:latin typeface="微软雅黑"/>
              </a:rPr>
              <a:t>10 · 团队成员信息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64008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b="1">
                <a:solidFill>
                  <a:srgbClr val="0F172A"/>
                </a:solidFill>
                <a:latin typeface="微软雅黑"/>
              </a:rPr>
              <a:t>三人分工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1691640"/>
            <a:ext cx="10698480" cy="10515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1691640"/>
            <a:ext cx="45720" cy="105156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92808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3B82F6"/>
                </a:solidFill>
                <a:latin typeface="Consolas"/>
              </a:rPr>
              <a:t>P1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85623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0F172A"/>
                </a:solidFill>
                <a:latin typeface="微软雅黑"/>
              </a:rPr>
              <a:t>解析工程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2585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Consolas"/>
              </a:rPr>
              <a:t>GitHub  DakerDack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020824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334155"/>
                </a:solidFill>
                <a:latin typeface="微软雅黑"/>
              </a:rPr>
              <a:t>材料解析 / 知识点抽取 / 依赖边候选 / 海报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" y="2880360"/>
            <a:ext cx="10698480" cy="10515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" y="2880360"/>
            <a:ext cx="45720" cy="105156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081528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3B82F6"/>
                </a:solidFill>
                <a:latin typeface="Consolas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304495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0F172A"/>
                </a:solidFill>
                <a:latin typeface="微软雅黑"/>
              </a:rPr>
              <a:t>数据与结构化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4472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Consolas"/>
              </a:rPr>
              <a:t>GitHub  Mikeys5s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209544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334155"/>
                </a:solidFill>
                <a:latin typeface="微软雅黑"/>
              </a:rPr>
              <a:t>知识图谱 / 检索 / 校验体系 / 本 PPT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" y="4069080"/>
            <a:ext cx="10698480" cy="10515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8952" y="4069080"/>
            <a:ext cx="45720" cy="105156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270248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3B82F6"/>
                </a:solidFill>
                <a:latin typeface="Consolas"/>
              </a:rPr>
              <a:t>P3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42336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0F172A"/>
                </a:solidFill>
                <a:latin typeface="微软雅黑"/>
              </a:rPr>
              <a:t>前端与交互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46360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Consolas"/>
              </a:rPr>
              <a:t>GitHub  RyeYen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4398264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334155"/>
                </a:solidFill>
                <a:latin typeface="微软雅黑"/>
              </a:rPr>
              <a:t>界面 / 图谱可视化 / 交互 / 演示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" y="54864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三人同属深圳大学计算机与软件学院 · 人工智能专业</a:t>
            </a:r>
          </a:p>
          <a:p>
            <a:pPr algn="l">
              <a:lnSpc>
                <a:spcPct val="17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在线演示  http://120.77.177.171:8000　·　源码仓库  https://gitee.com/mikey_code/multimodal-teaching-agent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析知 XiZhi · 多模态教学智能体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