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</a:defRPr>
            </a:pPr>
            <a:r>
              <a:t>析知 XiZhi</a:t>
            </a:r>
          </a:p>
          <a:p>
            <a:pPr algn="ctr">
              <a:defRPr sz="2500">
                <a:solidFill>
                  <a:srgbClr val="555555"/>
                </a:solidFill>
              </a:defRPr>
            </a:pPr>
            <a:r>
              <a:t>多模态教学智能体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222222"/>
                </a:solidFill>
              </a:defRPr>
            </a:pPr>
            <a:r>
              <a:t>把讲义和板书，变成可检索、可溯源、有依赖关系的知识骨架</a:t>
            </a:r>
          </a:p>
          <a:p>
            <a:pPr algn="ctr">
              <a:defRPr sz="1500">
                <a:solidFill>
                  <a:srgbClr val="555555"/>
                </a:solidFill>
              </a:defRPr>
            </a:pPr>
            <a:r>
              <a:t>再据此做苏格拉底式答疑 —— 别直接给答案，帮我搞懂我卡在哪</a:t>
            </a:r>
          </a:p>
          <a:p>
            <a:pPr algn="ctr">
              <a:defRPr sz="1300">
                <a:solidFill>
                  <a:srgbClr val="1F4E79"/>
                </a:solidFill>
              </a:defRPr>
            </a:pPr>
            <a:r>
              <a:t>豆包战队  ·  粤港澳大湾区 AI Coding 创新大赛 · 方向一「AI + 教学管理助手」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设计思路与分工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四层架构 · 关键路径放在确定性算法上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1E7B34"/>
                </a:solidFill>
              </a:defRPr>
            </a:pPr>
            <a:r>
              <a:t>**设计思路：四层，逐层收敛不确定性**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**① 解析**：PaddleOCR 本地 → 统一转 Markdown（**带页码锚点**，保证可溯源）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**② 结构化**：抽「章—节—知识点」三级骨架（**完整率与溯源覆盖率 100%**）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**③ 图推理**：构建前置依赖图 → **校验 / 环路剪枝 / 学习路径 / 卡点回溯**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**④ 答疑**：状态机驱动的苏格拉底式引导（提问 → 提示 → 讲解）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50">
                <a:solidFill>
                  <a:srgbClr val="1E7B34"/>
                </a:solidFill>
              </a:defRPr>
            </a:pPr>
            <a:r>
              <a:t>⭐ 一条贯穿始终的原则：**AI 干粗活 + 人做裁决**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**解析与抽取**交给模型（它是粗活）；**依赖图与学习路径**是纯算法（它是关键路径）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50">
                <a:solidFill>
                  <a:srgbClr val="555555"/>
                </a:solidFill>
              </a:defRPr>
            </a:pPr>
            <a:r>
              <a:t>**分工（三人，同属人工智能专业）**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**P1 解析工程**：材料解析 / 知识点抽取 / 依赖边候选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**P2 数据与结构化**：知识图谱 / 检索 / 校验体系 / 答疑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**P3 前端与交互**：界面 / 图谱可视化 / 学习路径 / 演示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实现过程中遇到的问题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★ 每一个都带「我们怎么发现的」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>
                <a:solidFill>
                  <a:srgbClr val="C0392B"/>
                </a:solidFill>
              </a:defRPr>
            </a:pPr>
            <a:r>
              <a:t>**① 中文提问查英文材料：0% 命中**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表面像「检索器坏了」。**做了三版对照实验才定位**：纯中文 0/6、纯英文 6/6、中英混合 6/6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⇒ **根因是跨语言，不是检索器** —— 修法是术语归一化，不是调阈值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</a:p>
          <a:p>
            <a:pPr>
              <a:spcAft>
                <a:spcPts val="200"/>
              </a:spcAft>
              <a:defRPr sz="1250">
                <a:solidFill>
                  <a:srgbClr val="C0392B"/>
                </a:solidFill>
              </a:defRPr>
            </a:pPr>
            <a:r>
              <a:t>**② 依赖图会成环**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而我们把「**教学依赖图必须无环**」当成工程不变量。**⇒ 环路必须在写库前剪掉**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最终做成一个**零模型依赖**的校验器（可离线、可复现）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</a:p>
          <a:p>
            <a:pPr>
              <a:spcAft>
                <a:spcPts val="200"/>
              </a:spcAft>
              <a:defRPr sz="1250">
                <a:solidFill>
                  <a:srgbClr val="C0392B"/>
                </a:solidFill>
              </a:defRPr>
            </a:pPr>
            <a:r>
              <a:t>**③ 629 个知识点里 462 个是副本**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第一反应是「删掉副本」。**但算了一下**：现有 625 条边里 **506 条（81%）** 的端点在被删之列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⇒ **删了等于整张图重抽一遍** —— 于是改成**只标注、不删数据**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</a:p>
          <a:p>
            <a:pPr>
              <a:spcAft>
                <a:spcPts val="200"/>
              </a:spcAft>
              <a:defRPr sz="1250">
                <a:solidFill>
                  <a:srgbClr val="C0392B"/>
                </a:solidFill>
              </a:defRPr>
            </a:pPr>
            <a:r>
              <a:t>**④ 答疑从第 2 轮起「静默失败」**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表象：HTTP 200，但 SSE **零字节**。**看起来像「模型没产出」**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⇒ 真相藏在**容器日志**里：`session.get(type(top))` 把 dataclass 当 ORM 类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</a:p>
          <a:p>
            <a:pPr>
              <a:spcAft>
                <a:spcPts val="200"/>
              </a:spcAft>
              <a:defRPr sz="1250">
                <a:solidFill>
                  <a:srgbClr val="C0392B"/>
                </a:solidFill>
              </a:defRPr>
            </a:pPr>
            <a:r>
              <a:t>**⑤ 一个判据 bug，同时搞坏两处指标**</a:t>
            </a:r>
          </a:p>
          <a:p>
            <a:pPr>
              <a:spcAft>
                <a:spcPts val="200"/>
              </a:spcAft>
              <a:defRPr sz="1250">
                <a:solidFill>
                  <a:srgbClr val="222222"/>
                </a:solidFill>
              </a:defRPr>
            </a:pPr>
            <a:r>
              <a:t>   缩写术语（`QUIC`/`TCP`）被判成「不可读」 ⇒ **既压低标题覆盖率，又让检索把正确答案降权**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成果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可复跑、可核对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1E7B34"/>
                </a:solidFill>
              </a:defRPr>
            </a:pPr>
            <a:r>
              <a:t>**知识图谱**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**629 个知识点 · 645 条依赖边 · 环数 = 0**（工程不变量，**可当场复跑**）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**每条 hard 边带「为什么不懂 A 读不通 B」+ 教材原文**（**理由完备率 100%**）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50">
                <a:solidFill>
                  <a:srgbClr val="1E7B34"/>
                </a:solidFill>
              </a:defRPr>
            </a:pPr>
            <a:r>
              <a:t>**可解释的学习路径与卡点回溯**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拥塞控制章节实测 **4 步**：FIFO 的问题 → bit-by-bit 轮转 → 第一点观察 → work conserving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⭐ 有一条跨章边最强：**教材原文自己写了「Recall how TCP's sliding window works」**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50">
                <a:solidFill>
                  <a:srgbClr val="1E7B34"/>
                </a:solidFill>
              </a:defRPr>
            </a:pPr>
            <a:r>
              <a:t>**多轮苏格拉底答疑（三种硬规则，一屏可见）**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首轮**绝不给答案** → 给提示 → **连续 2 次答不上 ⇒ 代码层强制降级直讲** → 超纲就说**「材料里没有」**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400"/>
              </a:spcAft>
              <a:defRPr sz="1450">
                <a:solidFill>
                  <a:srgbClr val="1E7B34"/>
                </a:solidFill>
              </a:defRPr>
            </a:pPr>
            <a:r>
              <a:t>**工程完整性**</a:t>
            </a:r>
          </a:p>
          <a:p>
            <a:pPr>
              <a:spcAft>
                <a:spcPts val="400"/>
              </a:spcAft>
              <a:defRPr sz="1450">
                <a:solidFill>
                  <a:srgbClr val="222222"/>
                </a:solidFill>
              </a:defRPr>
            </a:pPr>
            <a:r>
              <a:t>**全链路复验 40 项断言** · **部署自检 6 项（每次部署自动跑）** · **解题 19 条 + 误区 12 条，均带原文溯源**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谢谢</a:t>
            </a:r>
          </a:p>
          <a:p>
            <a:pPr>
              <a:defRPr sz="1300">
                <a:solidFill>
                  <a:srgbClr val="555555"/>
                </a:solidFill>
              </a:defRPr>
            </a:pPr>
            <a:r>
              <a:t>在线链接 + 源码仓库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50">
                <a:solidFill>
                  <a:srgbClr val="1E7B34"/>
                </a:solidFill>
              </a:defRPr>
            </a:pPr>
            <a:r>
              <a:t>**在线演示**    http://120.77.177.171:8000</a:t>
            </a:r>
          </a:p>
          <a:p>
            <a:pPr>
              <a:spcAft>
                <a:spcPts val="600"/>
              </a:spcAft>
              <a:defRPr sz="1450">
                <a:solidFill>
                  <a:srgbClr val="1E7B34"/>
                </a:solidFill>
              </a:defRPr>
            </a:pPr>
            <a:r>
              <a:t>**源码仓库**    https://gitee.com/mikey_code/multimodal-teaching-agent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**团队**：豆包战队 · 深圳大学计算机与软件学院 · 人工智能专业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  <a:r>
              <a:t>（队员姓名：＿＿＿ · ＿＿＿ · ＿＿＿）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50">
                <a:solidFill>
                  <a:srgbClr val="555555"/>
                </a:solidFill>
              </a:defRPr>
            </a:pPr>
            <a:r>
              <a:t>**交付物**：在线链接 · 源码仓库 · Demo 视频 · 作品介绍 PPT · 对话记录（199 轮）</a:t>
            </a:r>
          </a:p>
          <a:p>
            <a:pPr>
              <a:spcAft>
                <a:spcPts val="600"/>
              </a:spcAft>
              <a:defRPr sz="1450">
                <a:solidFill>
                  <a:srgbClr val="222222"/>
                </a:solidFill>
              </a:defRPr>
            </a:pPr>
          </a:p>
          <a:p>
            <a:pPr>
              <a:spcAft>
                <a:spcPts val="600"/>
              </a:spcAft>
              <a:defRPr sz="1450">
                <a:solidFill>
                  <a:srgbClr val="555555"/>
                </a:solidFill>
              </a:defRPr>
            </a:pPr>
            <a:r>
              <a:t>⭐ 我们宁可显示「不知道」，不显示「像知道」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