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0"/>
            <a:ext cx="3840480" cy="237744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58952" y="502920"/>
            <a:ext cx="402336" cy="402336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53035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5669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粤港澳大湾区 AI Coding 创新大赛 · 方向一「AI + 教学管理助手」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9202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6600" b="1">
                <a:solidFill>
                  <a:srgbClr val="0F172A"/>
                </a:solidFill>
                <a:latin typeface="微软雅黑"/>
              </a:rPr>
              <a:t>析知 XiZhi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3B82F6"/>
                </a:solidFill>
                <a:latin typeface="微软雅黑"/>
              </a:rPr>
              <a:t>多模态教学智能体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" y="3657600"/>
            <a:ext cx="100584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93192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>
                <a:solidFill>
                  <a:srgbClr val="1A1A1A"/>
                </a:solidFill>
                <a:latin typeface="微软雅黑"/>
              </a:rPr>
              <a:t>把讲义和板书，变成可检索、可溯源、有依赖关系的知识骨架</a:t>
            </a:r>
          </a:p>
          <a:p>
            <a:pPr algn="l">
              <a:lnSpc>
                <a:spcPct val="160000"/>
              </a:lnSpc>
            </a:pPr>
            <a:r>
              <a:rPr sz="1700" b="0">
                <a:solidFill>
                  <a:srgbClr val="1A1A1A"/>
                </a:solidFill>
                <a:latin typeface="微软雅黑"/>
              </a:rPr>
              <a:t>再据此做苏格拉底式答疑 —— 别直接给答案，帮我搞懂我卡在哪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5257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6B6D4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574243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阶段管线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5257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6B6D4"/>
                </a:solidFill>
                <a:latin typeface="Consolas"/>
              </a:rPr>
              <a:t>213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574243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知识点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5257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6B6D4"/>
                </a:solidFill>
                <a:latin typeface="Consolas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574243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依赖图环数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9775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豆包战队 · 深圳大学计算机与软件学院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DESIGN · 四层架构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微软雅黑"/>
              </a:rPr>
              <a:t>设计思路：四层，逐层收敛不确定性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481328"/>
            <a:ext cx="10698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481328"/>
            <a:ext cx="45720" cy="65836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636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① 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60020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PaddleOCR（本地）→ 统一转 Markdown（带页码锚点，保证可溯源）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267712"/>
            <a:ext cx="10698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267712"/>
            <a:ext cx="45720" cy="65836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② 结构化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86584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抽「章—节—知识点」三级骨架（完整率与溯源覆盖率 100%）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054096"/>
            <a:ext cx="10698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3054096"/>
            <a:ext cx="45720" cy="65836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36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③ 图推理 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172968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依赖图校验 / 环路剪枝 / 学习路径 / 卡点回溯 —— 纯标准库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840480"/>
            <a:ext cx="10698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45720" cy="65836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2277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④ 答疑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959352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状态机驱动的苏格拉底式引导（提问 → 提示 → 讲解）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" y="4736592"/>
            <a:ext cx="10698480" cy="54864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3B82F6"/>
                </a:solidFill>
                <a:latin typeface="微软雅黑"/>
              </a:rPr>
              <a:t>⭐ 一条贯穿始终的原则：AI 干粗活 + 人做裁决 —— 依赖图与学习路径是纯算法（关键路径）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分工（三人，同属计算机与软件学院 · 人工智能专业）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P1 材料解析 / 知识点抽取 / 海报　·　P2 知识图谱 / 检索 / 校验体系 / 本 PPT　·　P3 界面 / 图谱可视化 / 演示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PROBLEMS · 每一个都带「我们怎么发现的」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微软雅黑"/>
              </a:rPr>
              <a:t>实现过程中遇到的四个问题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481328"/>
            <a:ext cx="10698480" cy="9692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EA580C"/>
                </a:solidFill>
                <a:latin typeface="Consolas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36192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中文提问查英文材料：0% 命中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4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做了三版对照实验才定位（纯中文 0/6 · 纯英文 6/6 · 中英混合 6/6）⇒ 根因是跨语言，不是检索器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578608"/>
            <a:ext cx="10698480" cy="9692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0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EA580C"/>
                </a:solidFill>
                <a:latin typeface="Consolas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33472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依赖图会成环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我们把「教学依赖图必须无环」当工程不变量 ⇒ 做成零模型依赖的校验器（可离线可复现）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675888"/>
            <a:ext cx="10698480" cy="9692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EA580C"/>
                </a:solidFill>
                <a:latin typeface="Consolas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30752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同一份材料被抽了多遍，副本混进图里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第一反应是删。但算了一下：625 条边里 506 条（81%）的端点在被删之列 ⇒ 删了等于整张图重抽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4773168"/>
            <a:ext cx="10698480" cy="9692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EA580C"/>
                </a:solidFill>
                <a:latin typeface="Consolas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828032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答疑从第 2 轮起「静默失败」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2120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HTTP 200 但 SSE 零字节，看起来像「模型没产出」⇒ 真相藏在容器日志里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DEMO · 图 1 · 知识图谱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微软雅黑"/>
              </a:rPr>
              <a:t>依赖图：213 个知识点 · 229 条边 · 环数 = 0</a:t>
            </a:r>
          </a:p>
        </p:txBody>
      </p:sp>
      <p:pic>
        <p:nvPicPr>
          <p:cNvPr id="4" name="Picture 3" descr="屏幕截图 2026-10-11 1835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701" y="1444752"/>
            <a:ext cx="6608292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" y="5806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环数 0 是工程不变量，可当场复跑；因环路被剪除的边也有独立计数。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DEMO · 图 2 · 学习路径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微软雅黑"/>
              </a:rPr>
              <a:t>可解释的学习路径：每一步都带理由 + 教材原文</a:t>
            </a:r>
          </a:p>
        </p:txBody>
      </p:sp>
      <p:pic>
        <p:nvPicPr>
          <p:cNvPr id="4" name="Picture 3" descr="屏幕截图 2026-10-11 1834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674" y="1444752"/>
            <a:ext cx="6974345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" y="5806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以「慢启动的第二种场景」为目标的实测 3 步路径，每条前置都附来源依据。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DEMO · 图 3 · 多轮答疑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微软雅黑"/>
              </a:rPr>
              <a:t>苏格拉底答疑：首轮只反问，连续 2 次答不上才直讲</a:t>
            </a:r>
          </a:p>
        </p:txBody>
      </p:sp>
      <p:pic>
        <p:nvPicPr>
          <p:cNvPr id="4" name="Picture 3" descr="屏幕截图 2026-10-11 1835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503" y="1444752"/>
            <a:ext cx="8034688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" y="5806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降级由代码层强制，不依赖模型自觉；材料里没有的内容明确拒答（幻觉率 0）。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3C5FD"/>
                </a:solidFill>
                <a:latin typeface="微软雅黑"/>
              </a:rPr>
              <a:t>欢迎提问 —— 包括「怎么证明环数真的是 0」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F172A"/>
                </a:solidFill>
                <a:latin typeface="微软雅黑"/>
              </a:rPr>
              <a:t>在线演示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7432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B82F6"/>
                </a:solidFill>
                <a:latin typeface="Consolas"/>
              </a:rPr>
              <a:t>http://120.77.177.171:8000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3101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F172A"/>
                </a:solidFill>
                <a:latin typeface="微软雅黑"/>
              </a:rPr>
              <a:t>源码仓库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3101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B82F6"/>
                </a:solidFill>
                <a:latin typeface="Consolas"/>
              </a:rPr>
              <a:t>https://gitee.com/mikey_code/multimodal-teaching-agent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8770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F172A"/>
                </a:solidFill>
                <a:latin typeface="微软雅黑"/>
              </a:rPr>
              <a:t>交付物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877056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B82F6"/>
                </a:solidFill>
                <a:latin typeface="微软雅黑"/>
              </a:rPr>
              <a:t>在线链接 · 源码仓库 · 3 分钟演示视频 · 作品介绍 PPT · 对话记录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754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豆包战队 · 深圳大学计算机与软件学院 · 人工智能专业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⭐ 我们宁可显示「不知道」，不显示「像知道」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