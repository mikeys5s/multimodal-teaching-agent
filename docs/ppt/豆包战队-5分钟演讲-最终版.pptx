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758952" y="457200"/>
            <a:ext cx="384048" cy="38404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846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析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71016" y="52120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粤港澳大湾区 AI Coding 创新大赛 · 方向一「AI + 教学管理助手」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6200" b="1">
                <a:solidFill>
                  <a:srgbClr val="0F172A"/>
                </a:solidFill>
                <a:latin typeface="微软雅黑" panose="020B0503020204020204" charset="-122"/>
              </a:rPr>
              <a:t>析知 XiZhi</a:t>
            </a:r>
            <a:endParaRPr sz="62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3B82F6"/>
                </a:solidFill>
                <a:latin typeface="微软雅黑" panose="020B0503020204020204" charset="-122"/>
              </a:rPr>
              <a:t>多模态教学智能体</a:t>
            </a:r>
            <a:endParaRPr sz="2400" b="1">
              <a:solidFill>
                <a:srgbClr val="3B82F6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5528" y="3383280"/>
            <a:ext cx="914400" cy="5943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6118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</a:rPr>
              <a:t>把讲义和板书，变成可检索、可溯源、有依赖关系的知识骨架</a:t>
            </a:r>
            <a:endParaRPr sz="16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404164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3B82F6"/>
                </a:solidFill>
                <a:latin typeface="微软雅黑" panose="020B0503020204020204" charset="-122"/>
              </a:rPr>
              <a:t>别直接给答案，帮我搞懂我卡在哪。</a:t>
            </a:r>
            <a:endParaRPr sz="1600" b="1">
              <a:solidFill>
                <a:srgbClr val="3B82F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6B6D4"/>
                </a:solidFill>
                <a:latin typeface="Consolas" panose="020B0609020204030204"/>
              </a:rPr>
              <a:t>3</a:t>
            </a:r>
            <a:endParaRPr sz="2700" b="1">
              <a:solidFill>
                <a:srgbClr val="06B6D4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阶段管线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59152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6B6D4"/>
                </a:solidFill>
                <a:latin typeface="Consolas" panose="020B0609020204030204"/>
              </a:rPr>
              <a:t>213</a:t>
            </a:r>
            <a:endParaRPr sz="2700" b="1">
              <a:solidFill>
                <a:srgbClr val="06B6D4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59152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知识点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9352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6B6D4"/>
                </a:solidFill>
                <a:latin typeface="Consolas" panose="020B0609020204030204"/>
              </a:rPr>
              <a:t>229</a:t>
            </a:r>
            <a:endParaRPr sz="2700" b="1">
              <a:solidFill>
                <a:srgbClr val="06B6D4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59352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依赖边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59552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6B6D4"/>
                </a:solidFill>
                <a:latin typeface="Consolas" panose="020B0609020204030204"/>
              </a:rPr>
              <a:t>0</a:t>
            </a:r>
            <a:endParaRPr sz="2700" b="1">
              <a:solidFill>
                <a:srgbClr val="06B6D4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59552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依赖图环数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952" y="5989320"/>
            <a:ext cx="10698480" cy="34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深圳大学计算机与软件学院 · 人工智能专业</a:t>
            </a:r>
            <a:r>
              <a:rPr lang="en-US" sz="1200" b="0">
                <a:solidFill>
                  <a:srgbClr val="64748B"/>
                </a:solidFill>
                <a:latin typeface="微软雅黑" panose="020B0503020204020204" charset="-122"/>
              </a:rPr>
              <a:t> </a:t>
            </a:r>
            <a:r>
              <a:rPr sz="1200">
                <a:solidFill>
                  <a:srgbClr val="64748B"/>
                </a:solidFill>
                <a:latin typeface="微软雅黑" panose="020B0503020204020204" charset="-122"/>
                <a:sym typeface="+mn-ea"/>
              </a:rPr>
              <a:t>·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sym typeface="+mn-ea"/>
              </a:rPr>
              <a:t>豆包战队</a:t>
            </a:r>
            <a:endParaRPr lang="zh-CN" sz="1200" b="0">
              <a:solidFill>
                <a:srgbClr val="64748B"/>
              </a:solidFill>
              <a:latin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108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06B6D4"/>
                </a:solidFill>
                <a:latin typeface="微软雅黑" panose="020B0503020204020204" charset="-122"/>
              </a:rPr>
              <a:t>PROBLEM → PIPELINE</a:t>
            </a:r>
            <a:endParaRPr sz="10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</a:rPr>
              <a:t>学生的三个断点，对应我们做三件事</a:t>
            </a:r>
            <a:endParaRPr sz="2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1481328"/>
            <a:ext cx="3401568" cy="12984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1481328"/>
            <a:ext cx="3401568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读不进去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1832" y="202996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PDF / 板书照片 / PPT 混着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格式不同，检索不到一起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43400" y="1481328"/>
            <a:ext cx="3401568" cy="12984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81328"/>
            <a:ext cx="3401568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理不清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202996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材料是线性的，知识有依赖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学生不知道缺的是哪一环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27848" y="1481328"/>
            <a:ext cx="3401568" cy="12984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7848" y="1481328"/>
            <a:ext cx="3401568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问不明白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10728" y="202996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问答工具直接给答案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记住了这一步，还是不会下一步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8952" y="3017520"/>
            <a:ext cx="10698480" cy="6217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" y="3017520"/>
            <a:ext cx="45720" cy="6217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1181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① 解析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79192" y="31546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PaddleOCR（本地）→ 统一转 Markdown（带页码锚点）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8952" y="3730752"/>
            <a:ext cx="10698480" cy="6217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" y="3730752"/>
            <a:ext cx="45720" cy="6217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831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② 结构化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79192" y="38679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「章—节—知识点」三级骨架（完整率与溯源覆盖率 100%）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8952" y="4443984"/>
            <a:ext cx="10698480" cy="62179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" y="4443984"/>
            <a:ext cx="45720" cy="6217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5445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③ 图推理 ⭐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79192" y="4581144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依赖图校验 / 环路剪枝 / 学习路径 / 卡点回溯 —— 纯标准库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58952" y="5157216"/>
            <a:ext cx="10698480" cy="6217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" y="5157216"/>
            <a:ext cx="45720" cy="6217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④ 答疑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79192" y="5294376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状态机驱动的苏格拉底式引导（提问 → 提示 → 讲解）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8952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微软雅黑" panose="020B0503020204020204" charset="-122"/>
              </a:rPr>
              <a:t>⭐ 一条原则贯穿：AI 干粗活 + 人做裁决 —— 关键路径放在确定性算法上</a:t>
            </a:r>
            <a:endParaRPr sz="1300" b="1">
              <a:solidFill>
                <a:srgbClr val="3B82F6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643737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 · 豆包战队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62895" y="643737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2 / 5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108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06B6D4"/>
                </a:solidFill>
                <a:latin typeface="微软雅黑" panose="020B0503020204020204" charset="-122"/>
              </a:rPr>
              <a:t>DEMO · 三个核心能力</a:t>
            </a:r>
            <a:endParaRPr sz="10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</a:rPr>
              <a:t>依赖图 · 学习路径 · 苏格拉底答疑</a:t>
            </a:r>
            <a:endParaRPr sz="2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1389888"/>
            <a:ext cx="3395471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472184"/>
            <a:ext cx="3121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① 依赖图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屏幕截图 2026-10-11 18354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346405"/>
            <a:ext cx="3395471" cy="21377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56632"/>
            <a:ext cx="33954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72A"/>
                </a:solidFill>
                <a:latin typeface="微软雅黑" panose="020B0503020204020204" charset="-122"/>
              </a:rPr>
              <a:t>213 节点 · 229 边 · 环数 = 0</a:t>
            </a:r>
            <a:endParaRPr sz="13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5422392"/>
            <a:ext cx="33954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环数 0 是工程不变量，可当场复跑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10456" y="1389888"/>
            <a:ext cx="3395471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6760" y="1472184"/>
            <a:ext cx="3121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② 学习路径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11" name="Picture 10" descr="屏幕截图 2026-10-11 183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456" y="2402505"/>
            <a:ext cx="3395471" cy="20255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28744" y="5056632"/>
            <a:ext cx="33954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72A"/>
                </a:solidFill>
                <a:latin typeface="微软雅黑" panose="020B0503020204020204" charset="-122"/>
              </a:rPr>
              <a:t>每一步都带理由 + 教材原文</a:t>
            </a:r>
            <a:endParaRPr sz="13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8744" y="5422392"/>
            <a:ext cx="33954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以「慢启动第二种场景」为目标的 3 步路径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61960" y="1389888"/>
            <a:ext cx="3395471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8264" y="1472184"/>
            <a:ext cx="3121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③ 苏格拉底答疑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16" name="Picture 15" descr="屏幕截图 2026-10-11 1835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960" y="2402205"/>
            <a:ext cx="3395345" cy="20275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80247" y="5056632"/>
            <a:ext cx="33954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72A"/>
                </a:solidFill>
                <a:latin typeface="微软雅黑" panose="020B0503020204020204" charset="-122"/>
              </a:rPr>
              <a:t>首轮只反问，连错 2 次才直讲</a:t>
            </a:r>
            <a:endParaRPr sz="13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80247" y="5422392"/>
            <a:ext cx="33954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降级由代码层强制；材料里没有就拒答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952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B82F6"/>
                </a:solidFill>
                <a:latin typeface="微软雅黑" panose="020B0503020204020204" charset="-122"/>
              </a:rPr>
              <a:t>⭐ 校验不是「我们说测过了」—— 全链路复验 40 项 / 部署自检 6 项，你也能跑一遍</a:t>
            </a:r>
            <a:endParaRPr sz="1200" b="1">
              <a:solidFill>
                <a:srgbClr val="3B82F6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643737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 · 豆包战队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362895" y="643737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3 / 5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108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EA580C"/>
                </a:solidFill>
                <a:latin typeface="微软雅黑" panose="020B0503020204020204" charset="-122"/>
              </a:rPr>
              <a:t>LIMITS · 我们主动说的不足 · ★ 这一页是差异化</a:t>
            </a:r>
            <a:endParaRPr sz="100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</a:rPr>
              <a:t>两个瑕疵，以及我们怎么处置的</a:t>
            </a:r>
            <a:endParaRPr sz="2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1481328"/>
            <a:ext cx="10698480" cy="192024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1481328"/>
            <a:ext cx="45720" cy="1920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166420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A580C"/>
                </a:solidFill>
                <a:latin typeface="微软雅黑" panose="020B0503020204020204" charset="-122"/>
              </a:rPr>
              <a:t>① 数据有过重复</a:t>
            </a:r>
            <a:endParaRPr sz="160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1031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早先版本里同一份材料被抽了多遍，副本混进图里。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根因是一个可定位的 bug（「章内序号」被当成全局序号用）——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我们修了它并重跑：副本从 483（bug 产物）降到 67 ——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而剩下那 67 个是材料本身的真重复，我们只标注、不删数据。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952" y="3566159"/>
            <a:ext cx="10698480" cy="192024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3566159"/>
            <a:ext cx="45720" cy="1920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3749039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A580C"/>
                </a:solidFill>
                <a:latin typeface="微软雅黑" panose="020B0503020204020204" charset="-122"/>
              </a:rPr>
              <a:t>② 有一条边与 AI 判向相反</a:t>
            </a:r>
            <a:endParaRPr sz="160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4983" y="4187951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AI 按文档顺序抽出的方向是「滑动窗口 → TCP」，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而我们读原文判定：要先懂 TCP 的字节流。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我们不灌它，留在复核队列 ——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它正好是「人做裁决」的实例：AI 不假装自己判准了。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⇒ 我们宁可显示「不知道」，不显示「像知道」。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643737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 · 豆包战队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62895" y="643737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4 / 5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谢谢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在线演示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24688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B82F6"/>
                </a:solidFill>
                <a:latin typeface="Consolas" panose="020B0609020204030204"/>
              </a:rPr>
              <a:t>http://120.77.177.171:8000</a:t>
            </a:r>
            <a:endParaRPr sz="1400" b="0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源码仓库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4600" y="30175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B82F6"/>
                </a:solidFill>
                <a:latin typeface="Consolas" panose="020B0609020204030204"/>
              </a:rPr>
              <a:t>https://gitee.com/mikey_code/multimodal-teaching-agent</a:t>
            </a:r>
            <a:endParaRPr sz="1400" b="0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" y="45720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豆包战队 · 深圳大学计算机与软件学院 · 人工智能专业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8952" y="5166360"/>
            <a:ext cx="10698480" cy="6583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32180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3B82F6"/>
                </a:solidFill>
                <a:latin typeface="微软雅黑" panose="020B0503020204020204" charset="-122"/>
              </a:rPr>
              <a:t>⭐ 我们宁可显示「不知道」，不显示「像知道」</a:t>
            </a:r>
            <a:endParaRPr sz="1500" b="1">
              <a:solidFill>
                <a:srgbClr val="3B82F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</Words>
  <Application>WPS 演示</Application>
  <PresentationFormat>On-screen Show (4:3)</PresentationFormat>
  <Paragraphs>137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Mikeys</cp:lastModifiedBy>
  <cp:revision>5</cp:revision>
  <dcterms:created xsi:type="dcterms:W3CDTF">2013-01-27T09:14:00Z</dcterms:created>
  <dcterms:modified xsi:type="dcterms:W3CDTF">2026-10-11T10:55:34Z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742B81099F1F4A47B87111B014068178_12</vt:lpwstr>
  </property>
  <property fmtid="{D5CDD505-2E9C-101B-9397-08002B2CF9AE}" pid="3" name="KSOProductBuildVer">
    <vt:lpwstr>2052-12.1.0.28488</vt:lpwstr>
  </property>
</Properties>
</file>