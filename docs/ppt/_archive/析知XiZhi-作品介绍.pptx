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</p:sldIdLst>
  <p:sldSz cx="12192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pn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.png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7239000" y="0"/>
            <a:ext cx="4953000" cy="2857500"/>
          </a:xfrm>
          <a:prstGeom prst="rect">
            <a:avLst/>
          </a:prstGeom>
          <a:solidFill>
            <a:srgbClr val="F0F7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762000" y="533400"/>
            <a:ext cx="419100" cy="419100"/>
          </a:xfrm>
          <a:prstGeom prst="roundRect">
            <a:avLst>
              <a:gd name="adj" fmla="val 22727"/>
            </a:avLst>
          </a:prstGeom>
          <a:solidFill>
            <a:srgbClr val="0F17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62000" y="609600"/>
            <a:ext cx="419100" cy="2857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50000"/>
              </a:lnSpc>
            </a:pPr>
            <a:r>
              <a:rPr sz="2000" b="1">
                <a:solidFill>
                  <a:srgbClr val="FFFFFF"/>
                </a:solidFill>
                <a:latin typeface="思源黑体 CN"/>
              </a:rPr>
              <a:t>析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333500" y="609600"/>
            <a:ext cx="8572500" cy="2857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50000"/>
              </a:lnSpc>
            </a:pPr>
            <a:r>
              <a:rPr sz="1800" b="0">
                <a:solidFill>
                  <a:srgbClr val="64748B"/>
                </a:solidFill>
                <a:latin typeface="思源黑体 CN"/>
              </a:rPr>
              <a:t>粤港澳大湾区 AI Coding 创新大赛 · 方向一「AI + 教学管理助手」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62000" y="1809750"/>
            <a:ext cx="9525000" cy="10477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8800" b="1">
                <a:solidFill>
                  <a:srgbClr val="0F172A"/>
                </a:solidFill>
                <a:latin typeface="思源黑体 CN"/>
              </a:rPr>
              <a:t>析知 XiZhi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62000" y="3009900"/>
            <a:ext cx="7620000" cy="4381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50000"/>
              </a:lnSpc>
            </a:pPr>
            <a:r>
              <a:rPr sz="3000" b="1">
                <a:solidFill>
                  <a:srgbClr val="3B82F6"/>
                </a:solidFill>
                <a:latin typeface="思源黑体 CN"/>
              </a:rPr>
              <a:t>多模态教学智能体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62000" y="3619500"/>
            <a:ext cx="1143000" cy="47625"/>
          </a:xfrm>
          <a:prstGeom prst="roundRect">
            <a:avLst>
              <a:gd name="adj" fmla="val 50000"/>
            </a:avLst>
          </a:prstGeom>
          <a:solidFill>
            <a:srgbClr val="06B6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62000" y="3905250"/>
            <a:ext cx="9525000" cy="8572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60000"/>
              </a:lnSpc>
            </a:pPr>
            <a:r>
              <a:rPr sz="2400" b="0">
                <a:solidFill>
                  <a:srgbClr val="1A1A1A"/>
                </a:solidFill>
                <a:latin typeface="思源黑体 CN"/>
              </a:rPr>
              <a:t>让教学材料变成</a:t>
            </a:r>
            <a:r>
              <a:rPr sz="2400" b="1">
                <a:solidFill>
                  <a:srgbClr val="0F172A"/>
                </a:solidFill>
                <a:latin typeface="思源黑体 CN"/>
              </a:rPr>
              <a:t>可查询、可溯源、能引导自学</a:t>
            </a:r>
            <a:r>
              <a:rPr sz="2400" b="0">
                <a:solidFill>
                  <a:srgbClr val="1A1A1A"/>
                </a:solidFill>
                <a:latin typeface="思源黑体 CN"/>
              </a:rPr>
              <a:t>的结构化知识体</a:t>
            </a:r>
          </a:p>
          <a:p>
            <a:pPr algn="l">
              <a:lnSpc>
                <a:spcPct val="160000"/>
              </a:lnSpc>
            </a:pPr>
            <a:r>
              <a:rPr sz="2000" b="0">
                <a:solidFill>
                  <a:srgbClr val="64748B"/>
                </a:solidFill>
                <a:latin typeface="思源黑体 CN"/>
              </a:rPr>
              <a:t>图文素材智能解析 · 知识点结构化抽取 · 交互式答疑辅导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62000" y="5429250"/>
            <a:ext cx="1905000" cy="4953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4000" b="1">
                <a:solidFill>
                  <a:srgbClr val="06B6D4"/>
                </a:solidFill>
                <a:latin typeface="JetBrains Mono"/>
              </a:rPr>
              <a:t>3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62000" y="5829300"/>
            <a:ext cx="19050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800" b="0">
                <a:solidFill>
                  <a:srgbClr val="64748B"/>
                </a:solidFill>
                <a:latin typeface="思源黑体 CN"/>
              </a:rPr>
              <a:t>阶段管线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952750" y="5429250"/>
            <a:ext cx="1905000" cy="4953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4000" b="1">
                <a:solidFill>
                  <a:srgbClr val="06B6D4"/>
                </a:solidFill>
                <a:latin typeface="JetBrains Mono"/>
              </a:rPr>
              <a:t>5 / 5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2952750" y="5829300"/>
            <a:ext cx="19050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800" b="0">
                <a:solidFill>
                  <a:srgbClr val="64748B"/>
                </a:solidFill>
                <a:latin typeface="思源黑体 CN"/>
              </a:rPr>
              <a:t>验收项通过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143500" y="5429250"/>
            <a:ext cx="1905000" cy="4953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4000" b="1">
                <a:solidFill>
                  <a:srgbClr val="06B6D4"/>
                </a:solidFill>
                <a:latin typeface="JetBrains Mono"/>
              </a:rPr>
              <a:t>0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143500" y="5829300"/>
            <a:ext cx="19050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800" b="0">
                <a:solidFill>
                  <a:srgbClr val="64748B"/>
                </a:solidFill>
                <a:latin typeface="思源黑体 CN"/>
              </a:rPr>
              <a:t>依赖图环数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429500" y="5676900"/>
            <a:ext cx="4000500" cy="2476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50000"/>
              </a:lnSpc>
            </a:pPr>
            <a:r>
              <a:rPr sz="1400" b="0">
                <a:solidFill>
                  <a:srgbClr val="64748B"/>
                </a:solidFill>
                <a:latin typeface="思源黑体 CN"/>
              </a:rPr>
              <a:t>三人团队 · 同属人工智能专业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62000" y="247650"/>
            <a:ext cx="8572500" cy="2857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50000"/>
              </a:lnSpc>
            </a:pPr>
            <a:r>
              <a:rPr sz="1500" b="1">
                <a:solidFill>
                  <a:srgbClr val="06B6D4"/>
                </a:solidFill>
                <a:latin typeface="思源黑体 CN"/>
              </a:rPr>
              <a:t>CONTENTS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62000" y="514350"/>
            <a:ext cx="10477500" cy="5143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3200" b="1">
                <a:solidFill>
                  <a:srgbClr val="0F172A"/>
                </a:solidFill>
                <a:latin typeface="思源黑体 CN"/>
              </a:rPr>
              <a:t>目录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62000" y="1104900"/>
            <a:ext cx="533400" cy="47625"/>
          </a:xfrm>
          <a:prstGeom prst="roundRect">
            <a:avLst>
              <a:gd name="adj" fmla="val 50000"/>
            </a:avLst>
          </a:prstGeom>
          <a:solidFill>
            <a:srgbClr val="06B6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762000" y="1447800"/>
            <a:ext cx="742950" cy="742950"/>
          </a:xfrm>
          <a:prstGeom prst="roundRect">
            <a:avLst>
              <a:gd name="adj" fmla="val 15384"/>
            </a:avLst>
          </a:prstGeom>
          <a:solidFill>
            <a:srgbClr val="F8FA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62000" y="1657350"/>
            <a:ext cx="74295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50000"/>
              </a:lnSpc>
            </a:pPr>
            <a:r>
              <a:rPr sz="2600" b="1">
                <a:solidFill>
                  <a:srgbClr val="06B6D4"/>
                </a:solidFill>
                <a:latin typeface="JetBrains Mono"/>
              </a:rPr>
              <a:t>01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752600" y="1562100"/>
            <a:ext cx="66675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50000"/>
              </a:lnSpc>
            </a:pPr>
            <a:r>
              <a:rPr sz="2600" b="1">
                <a:solidFill>
                  <a:srgbClr val="0F172A"/>
                </a:solidFill>
                <a:latin typeface="思源黑体 CN"/>
              </a:rPr>
              <a:t>作品简介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752600" y="1905000"/>
            <a:ext cx="8572500" cy="2667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50000"/>
              </a:lnSpc>
            </a:pPr>
            <a:r>
              <a:rPr sz="1600" b="0">
                <a:solidFill>
                  <a:srgbClr val="64748B"/>
                </a:solidFill>
                <a:latin typeface="思源黑体 CN"/>
              </a:rPr>
              <a:t>面向什么教学场景、解决什么断点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62000" y="2324100"/>
            <a:ext cx="742950" cy="742950"/>
          </a:xfrm>
          <a:prstGeom prst="roundRect">
            <a:avLst>
              <a:gd name="adj" fmla="val 15384"/>
            </a:avLst>
          </a:prstGeom>
          <a:solidFill>
            <a:srgbClr val="F8FA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62000" y="2533650"/>
            <a:ext cx="74295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50000"/>
              </a:lnSpc>
            </a:pPr>
            <a:r>
              <a:rPr sz="2600" b="1">
                <a:solidFill>
                  <a:srgbClr val="06B6D4"/>
                </a:solidFill>
                <a:latin typeface="JetBrains Mono"/>
              </a:rPr>
              <a:t>02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752600" y="2438400"/>
            <a:ext cx="66675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50000"/>
              </a:lnSpc>
            </a:pPr>
            <a:r>
              <a:rPr sz="2600" b="1">
                <a:solidFill>
                  <a:srgbClr val="0F172A"/>
                </a:solidFill>
                <a:latin typeface="思源黑体 CN"/>
              </a:rPr>
              <a:t>赛题方向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752600" y="2781300"/>
            <a:ext cx="8572500" cy="2667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50000"/>
              </a:lnSpc>
            </a:pPr>
            <a:r>
              <a:rPr sz="1600" b="0">
                <a:solidFill>
                  <a:srgbClr val="64748B"/>
                </a:solidFill>
                <a:latin typeface="思源黑体 CN"/>
              </a:rPr>
              <a:t>方向一「AI + 教学管理助手」的对应关系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762000" y="3200400"/>
            <a:ext cx="742950" cy="742950"/>
          </a:xfrm>
          <a:prstGeom prst="roundRect">
            <a:avLst>
              <a:gd name="adj" fmla="val 15384"/>
            </a:avLst>
          </a:prstGeom>
          <a:solidFill>
            <a:srgbClr val="F8FA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762000" y="3409950"/>
            <a:ext cx="74295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50000"/>
              </a:lnSpc>
            </a:pPr>
            <a:r>
              <a:rPr sz="2600" b="1">
                <a:solidFill>
                  <a:srgbClr val="06B6D4"/>
                </a:solidFill>
                <a:latin typeface="JetBrains Mono"/>
              </a:rPr>
              <a:t>03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752600" y="3314700"/>
            <a:ext cx="66675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50000"/>
              </a:lnSpc>
            </a:pPr>
            <a:r>
              <a:rPr sz="2600" b="1">
                <a:solidFill>
                  <a:srgbClr val="0F172A"/>
                </a:solidFill>
                <a:latin typeface="思源黑体 CN"/>
              </a:rPr>
              <a:t>AI 能力说明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752600" y="3657600"/>
            <a:ext cx="8572500" cy="2667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50000"/>
              </a:lnSpc>
            </a:pPr>
            <a:r>
              <a:rPr sz="1600" b="0">
                <a:solidFill>
                  <a:srgbClr val="64748B"/>
                </a:solidFill>
                <a:latin typeface="思源黑体 CN"/>
              </a:rPr>
              <a:t>AI 在链路中承担什么、不承担什么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762000" y="4076700"/>
            <a:ext cx="742950" cy="742950"/>
          </a:xfrm>
          <a:prstGeom prst="roundRect">
            <a:avLst>
              <a:gd name="adj" fmla="val 15384"/>
            </a:avLst>
          </a:prstGeom>
          <a:solidFill>
            <a:srgbClr val="F8FA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762000" y="4286250"/>
            <a:ext cx="74295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50000"/>
              </a:lnSpc>
            </a:pPr>
            <a:r>
              <a:rPr sz="2600" b="1">
                <a:solidFill>
                  <a:srgbClr val="06B6D4"/>
                </a:solidFill>
                <a:latin typeface="JetBrains Mono"/>
              </a:rPr>
              <a:t>04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752600" y="4191000"/>
            <a:ext cx="66675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50000"/>
              </a:lnSpc>
            </a:pPr>
            <a:r>
              <a:rPr sz="2600" b="1">
                <a:solidFill>
                  <a:srgbClr val="0F172A"/>
                </a:solidFill>
                <a:latin typeface="思源黑体 CN"/>
              </a:rPr>
              <a:t>技术方案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752600" y="4533900"/>
            <a:ext cx="8572500" cy="2667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50000"/>
              </a:lnSpc>
            </a:pPr>
            <a:r>
              <a:rPr sz="1600" b="0">
                <a:solidFill>
                  <a:srgbClr val="64748B"/>
                </a:solidFill>
                <a:latin typeface="思源黑体 CN"/>
              </a:rPr>
              <a:t>三阶段管线 · 核心创新 · 关键取舍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762000" y="4953000"/>
            <a:ext cx="742950" cy="742950"/>
          </a:xfrm>
          <a:prstGeom prst="roundRect">
            <a:avLst>
              <a:gd name="adj" fmla="val 15384"/>
            </a:avLst>
          </a:prstGeom>
          <a:solidFill>
            <a:srgbClr val="F8FA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762000" y="5162550"/>
            <a:ext cx="74295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50000"/>
              </a:lnSpc>
            </a:pPr>
            <a:r>
              <a:rPr sz="2600" b="1">
                <a:solidFill>
                  <a:srgbClr val="06B6D4"/>
                </a:solidFill>
                <a:latin typeface="JetBrains Mono"/>
              </a:rPr>
              <a:t>05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752600" y="5067300"/>
            <a:ext cx="66675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50000"/>
              </a:lnSpc>
            </a:pPr>
            <a:r>
              <a:rPr sz="2600" b="1">
                <a:solidFill>
                  <a:srgbClr val="0F172A"/>
                </a:solidFill>
                <a:latin typeface="思源黑体 CN"/>
              </a:rPr>
              <a:t>团队与交付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752600" y="5410200"/>
            <a:ext cx="8572500" cy="2667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50000"/>
              </a:lnSpc>
            </a:pPr>
            <a:r>
              <a:rPr sz="1600" b="0">
                <a:solidFill>
                  <a:srgbClr val="64748B"/>
                </a:solidFill>
                <a:latin typeface="思源黑体 CN"/>
              </a:rPr>
              <a:t>分工、在线链接、可复现性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8572500" y="1447800"/>
            <a:ext cx="2857500" cy="3143250"/>
          </a:xfrm>
          <a:prstGeom prst="roundRect">
            <a:avLst>
              <a:gd name="adj" fmla="val 5333"/>
            </a:avLst>
          </a:prstGeom>
          <a:solidFill>
            <a:srgbClr val="F8FA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8839200" y="1714500"/>
            <a:ext cx="2324100" cy="2667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70000"/>
              </a:lnSpc>
            </a:pPr>
            <a:r>
              <a:rPr sz="1700" b="0">
                <a:solidFill>
                  <a:srgbClr val="1A1A1A"/>
                </a:solidFill>
                <a:latin typeface="思源黑体 CN"/>
              </a:rPr>
              <a:t>三分钟内，</a:t>
            </a:r>
          </a:p>
          <a:p>
            <a:pPr algn="l">
              <a:lnSpc>
                <a:spcPct val="170000"/>
              </a:lnSpc>
            </a:pPr>
            <a:r>
              <a:rPr sz="1700" b="0">
                <a:solidFill>
                  <a:srgbClr val="1A1A1A"/>
                </a:solidFill>
                <a:latin typeface="思源黑体 CN"/>
              </a:rPr>
              <a:t>我们希望评委看到三件事：</a:t>
            </a:r>
          </a:p>
          <a:p>
            <a:pPr algn="l">
              <a:lnSpc>
                <a:spcPct val="170000"/>
              </a:lnSpc>
            </a:pPr>
            <a:r>
              <a:rPr sz="1700" b="0">
                <a:solidFill>
                  <a:srgbClr val="1A1A1A"/>
                </a:solidFill>
                <a:latin typeface="思源黑体 CN"/>
              </a:rPr>
              <a:t/>
            </a:r>
          </a:p>
          <a:p>
            <a:pPr algn="l">
              <a:lnSpc>
                <a:spcPct val="170000"/>
              </a:lnSpc>
            </a:pPr>
            <a:r>
              <a:rPr sz="1700" b="0">
                <a:solidFill>
                  <a:srgbClr val="1A1A1A"/>
                </a:solidFill>
                <a:latin typeface="思源黑体 CN"/>
              </a:rPr>
              <a:t>① 这不是套壳 —— 有确定性算法兜底</a:t>
            </a:r>
          </a:p>
          <a:p>
            <a:pPr algn="l">
              <a:lnSpc>
                <a:spcPct val="170000"/>
              </a:lnSpc>
            </a:pPr>
            <a:r>
              <a:rPr sz="1700" b="0">
                <a:solidFill>
                  <a:srgbClr val="1A1A1A"/>
                </a:solidFill>
                <a:latin typeface="思源黑体 CN"/>
              </a:rPr>
              <a:t>② 创新是工程不变量，不是口号</a:t>
            </a:r>
          </a:p>
          <a:p>
            <a:pPr algn="l">
              <a:lnSpc>
                <a:spcPct val="170000"/>
              </a:lnSpc>
            </a:pPr>
            <a:r>
              <a:rPr sz="1700" b="0">
                <a:solidFill>
                  <a:srgbClr val="1A1A1A"/>
                </a:solidFill>
                <a:latin typeface="思源黑体 CN"/>
              </a:rPr>
              <a:t>③ 数据有瑕疵，我们自己先说了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762000" y="6362700"/>
            <a:ext cx="7620000" cy="2476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50000"/>
              </a:lnSpc>
            </a:pPr>
            <a:r>
              <a:rPr sz="1400" b="0">
                <a:solidFill>
                  <a:srgbClr val="64748B"/>
                </a:solidFill>
                <a:latin typeface="思源黑体 CN"/>
              </a:rPr>
              <a:t>析知 XiZhi · 多模态教学智能体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9525000" y="6362700"/>
            <a:ext cx="1905000" cy="2476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50000"/>
              </a:lnSpc>
            </a:pPr>
            <a:r>
              <a:rPr sz="1400" b="0">
                <a:solidFill>
                  <a:srgbClr val="64748B"/>
                </a:solidFill>
                <a:latin typeface="JetBrains Mono"/>
              </a:rPr>
              <a:t>02 / 14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62000" y="247650"/>
            <a:ext cx="8572500" cy="2857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50000"/>
              </a:lnSpc>
            </a:pPr>
            <a:r>
              <a:rPr sz="1500" b="1">
                <a:solidFill>
                  <a:srgbClr val="06B6D4"/>
                </a:solidFill>
                <a:latin typeface="思源黑体 CN"/>
              </a:rPr>
              <a:t>为什么做这件事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62000" y="514350"/>
            <a:ext cx="10477500" cy="5143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3200" b="1">
                <a:solidFill>
                  <a:srgbClr val="0F172A"/>
                </a:solidFill>
                <a:latin typeface="思源黑体 CN"/>
              </a:rPr>
              <a:t>教学材料的三个断点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62000" y="1104900"/>
            <a:ext cx="533400" cy="47625"/>
          </a:xfrm>
          <a:prstGeom prst="roundRect">
            <a:avLst>
              <a:gd name="adj" fmla="val 50000"/>
            </a:avLst>
          </a:prstGeom>
          <a:solidFill>
            <a:srgbClr val="06B6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762000" y="1543050"/>
            <a:ext cx="3333750" cy="3143250"/>
          </a:xfrm>
          <a:prstGeom prst="roundRect">
            <a:avLst>
              <a:gd name="adj" fmla="val 4848"/>
            </a:avLst>
          </a:prstGeom>
          <a:solidFill>
            <a:srgbClr val="F8FA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66800" y="1828800"/>
            <a:ext cx="1143000" cy="6667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6000" b="1">
                <a:solidFill>
                  <a:srgbClr val="06B6D4"/>
                </a:solidFill>
                <a:latin typeface="JetBrains Mono"/>
              </a:rPr>
              <a:t>01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66800" y="2686050"/>
            <a:ext cx="2762250" cy="4191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50000"/>
              </a:lnSpc>
            </a:pPr>
            <a:r>
              <a:rPr sz="2800" b="1">
                <a:solidFill>
                  <a:srgbClr val="0F172A"/>
                </a:solidFill>
                <a:latin typeface="思源黑体 CN"/>
              </a:rPr>
              <a:t>读不进去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66800" y="3219450"/>
            <a:ext cx="2762250" cy="12382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70000"/>
              </a:lnSpc>
            </a:pPr>
            <a:r>
              <a:rPr sz="1700" b="0">
                <a:solidFill>
                  <a:srgbClr val="1A1A1A"/>
                </a:solidFill>
                <a:latin typeface="思源黑体 CN"/>
              </a:rPr>
              <a:t>同一门课的材料是 PDF、板书照片、PPT 混着的 ——
格式不同，检索不到一起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324350" y="1543050"/>
            <a:ext cx="3333750" cy="3143250"/>
          </a:xfrm>
          <a:prstGeom prst="roundRect">
            <a:avLst>
              <a:gd name="adj" fmla="val 4848"/>
            </a:avLst>
          </a:prstGeom>
          <a:solidFill>
            <a:srgbClr val="F8FA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629150" y="1828800"/>
            <a:ext cx="1143000" cy="6667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6000" b="1">
                <a:solidFill>
                  <a:srgbClr val="06B6D4"/>
                </a:solidFill>
                <a:latin typeface="JetBrains Mono"/>
              </a:rPr>
              <a:t>02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629150" y="2686050"/>
            <a:ext cx="2762250" cy="4191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50000"/>
              </a:lnSpc>
            </a:pPr>
            <a:r>
              <a:rPr sz="2800" b="1">
                <a:solidFill>
                  <a:srgbClr val="0F172A"/>
                </a:solidFill>
                <a:latin typeface="思源黑体 CN"/>
              </a:rPr>
              <a:t>理不清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629150" y="3219450"/>
            <a:ext cx="2762250" cy="12382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70000"/>
              </a:lnSpc>
            </a:pPr>
            <a:r>
              <a:rPr sz="1700" b="0">
                <a:solidFill>
                  <a:srgbClr val="1A1A1A"/>
                </a:solidFill>
                <a:latin typeface="思源黑体 CN"/>
              </a:rPr>
              <a:t>材料是线性的，而知识是有依赖的 ——
学生不知道自己缺的是哪一环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7886700" y="1543050"/>
            <a:ext cx="3333750" cy="3143250"/>
          </a:xfrm>
          <a:prstGeom prst="roundRect">
            <a:avLst>
              <a:gd name="adj" fmla="val 4848"/>
            </a:avLst>
          </a:prstGeom>
          <a:solidFill>
            <a:srgbClr val="F8FA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191500" y="1828800"/>
            <a:ext cx="1143000" cy="6667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6000" b="1">
                <a:solidFill>
                  <a:srgbClr val="06B6D4"/>
                </a:solidFill>
                <a:latin typeface="JetBrains Mono"/>
              </a:rPr>
              <a:t>03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191500" y="2686050"/>
            <a:ext cx="2762250" cy="4191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50000"/>
              </a:lnSpc>
            </a:pPr>
            <a:r>
              <a:rPr sz="2800" b="1">
                <a:solidFill>
                  <a:srgbClr val="0F172A"/>
                </a:solidFill>
                <a:latin typeface="思源黑体 CN"/>
              </a:rPr>
              <a:t>问不明白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191500" y="3219450"/>
            <a:ext cx="2762250" cy="12382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70000"/>
              </a:lnSpc>
            </a:pPr>
            <a:r>
              <a:rPr sz="1700" b="0">
                <a:solidFill>
                  <a:srgbClr val="1A1A1A"/>
                </a:solidFill>
                <a:latin typeface="思源黑体 CN"/>
              </a:rPr>
              <a:t>问答工具直接给答案，
学生记住了这一步，还是不会下一步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62000" y="5067300"/>
            <a:ext cx="10668000" cy="5715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50000"/>
              </a:lnSpc>
            </a:pPr>
            <a:r>
              <a:rPr sz="2000" b="0">
                <a:solidFill>
                  <a:srgbClr val="3B82F6"/>
                </a:solidFill>
                <a:latin typeface="思源黑体 CN"/>
              </a:rPr>
              <a:t>析知针对这三个断点，分别做了三件事 —— 解析 / 结构化 / 答疑。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62000" y="6362700"/>
            <a:ext cx="7620000" cy="2476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50000"/>
              </a:lnSpc>
            </a:pPr>
            <a:r>
              <a:rPr sz="1400" b="0">
                <a:solidFill>
                  <a:srgbClr val="64748B"/>
                </a:solidFill>
                <a:latin typeface="思源黑体 CN"/>
              </a:rPr>
              <a:t>析知 XiZhi · 多模态教学智能体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9525000" y="6362700"/>
            <a:ext cx="1905000" cy="2476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50000"/>
              </a:lnSpc>
            </a:pPr>
            <a:r>
              <a:rPr sz="1400" b="0">
                <a:solidFill>
                  <a:srgbClr val="64748B"/>
                </a:solidFill>
                <a:latin typeface="JetBrains Mono"/>
              </a:rPr>
              <a:t>03 / 14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62000" y="247650"/>
            <a:ext cx="8572500" cy="2857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50000"/>
              </a:lnSpc>
            </a:pPr>
            <a:r>
              <a:rPr sz="1500" b="1">
                <a:solidFill>
                  <a:srgbClr val="06B6D4"/>
                </a:solidFill>
                <a:latin typeface="思源黑体 CN"/>
              </a:rPr>
              <a:t>作品概览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62000" y="514350"/>
            <a:ext cx="10477500" cy="5143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3200" b="1">
                <a:solidFill>
                  <a:srgbClr val="0F172A"/>
                </a:solidFill>
                <a:latin typeface="思源黑体 CN"/>
              </a:rPr>
              <a:t>我们做的三件事：一条三阶段管线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62000" y="1104900"/>
            <a:ext cx="533400" cy="47625"/>
          </a:xfrm>
          <a:prstGeom prst="roundRect">
            <a:avLst>
              <a:gd name="adj" fmla="val 50000"/>
            </a:avLst>
          </a:prstGeom>
          <a:solidFill>
            <a:srgbClr val="06B6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5" name="Picture 4" descr="arch_stage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43000" y="1314450"/>
            <a:ext cx="9906000" cy="2857500"/>
          </a:xfrm>
          <a:prstGeom prst="rect">
            <a:avLst/>
          </a:prstGeom>
        </p:spPr>
      </p:pic>
      <p:sp>
        <p:nvSpPr>
          <p:cNvPr id="6" name="Rounded Rectangle 5"/>
          <p:cNvSpPr/>
          <p:nvPr/>
        </p:nvSpPr>
        <p:spPr>
          <a:xfrm>
            <a:off x="762000" y="4400550"/>
            <a:ext cx="38100" cy="419100"/>
          </a:xfrm>
          <a:prstGeom prst="roundRect">
            <a:avLst>
              <a:gd name="adj" fmla="val 50000"/>
            </a:avLst>
          </a:prstGeom>
          <a:solidFill>
            <a:srgbClr val="06B6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33450" y="4381500"/>
            <a:ext cx="2095500" cy="2476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50000"/>
              </a:lnSpc>
            </a:pPr>
            <a:r>
              <a:rPr sz="1800" b="1">
                <a:solidFill>
                  <a:srgbClr val="0F172A"/>
                </a:solidFill>
                <a:latin typeface="思源黑体 CN"/>
              </a:rPr>
              <a:t>Stage 1 · 解析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143250" y="4381500"/>
            <a:ext cx="4762500" cy="2476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50000"/>
              </a:lnSpc>
            </a:pPr>
            <a:r>
              <a:rPr sz="1600" b="0">
                <a:solidFill>
                  <a:srgbClr val="1A1A1A"/>
                </a:solidFill>
                <a:latin typeface="思源黑体 CN"/>
              </a:rPr>
              <a:t>PDF / 板书照片 / PPTX → 带页码锚点的 Markdown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096250" y="4381500"/>
            <a:ext cx="3333750" cy="2476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50000"/>
              </a:lnSpc>
            </a:pPr>
            <a:r>
              <a:rPr sz="1600" b="0">
                <a:solidFill>
                  <a:srgbClr val="3B82F6"/>
                </a:solidFill>
                <a:latin typeface="思源黑体 CN"/>
              </a:rPr>
              <a:t>文本层直抽 + 本地 OCR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62000" y="4933950"/>
            <a:ext cx="38100" cy="419100"/>
          </a:xfrm>
          <a:prstGeom prst="roundRect">
            <a:avLst>
              <a:gd name="adj" fmla="val 50000"/>
            </a:avLst>
          </a:prstGeom>
          <a:solidFill>
            <a:srgbClr val="06B6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933450" y="4914900"/>
            <a:ext cx="2095500" cy="2476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50000"/>
              </a:lnSpc>
            </a:pPr>
            <a:r>
              <a:rPr sz="1800" b="1">
                <a:solidFill>
                  <a:srgbClr val="0F172A"/>
                </a:solidFill>
                <a:latin typeface="思源黑体 CN"/>
              </a:rPr>
              <a:t>Stage 2 · 结构化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143250" y="4914900"/>
            <a:ext cx="4762500" cy="2476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50000"/>
              </a:lnSpc>
            </a:pPr>
            <a:r>
              <a:rPr sz="1600" b="0">
                <a:solidFill>
                  <a:srgbClr val="1A1A1A"/>
                </a:solidFill>
                <a:latin typeface="思源黑体 CN"/>
              </a:rPr>
              <a:t>章—节—知识点三级结构 + 前置依赖 DAG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096250" y="4914900"/>
            <a:ext cx="3333750" cy="2476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50000"/>
              </a:lnSpc>
            </a:pPr>
            <a:r>
              <a:rPr sz="1600" b="0">
                <a:solidFill>
                  <a:srgbClr val="3B82F6"/>
                </a:solidFill>
                <a:latin typeface="思源黑体 CN"/>
              </a:rPr>
              <a:t>写库前环校验剪枝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762000" y="5467350"/>
            <a:ext cx="38100" cy="419100"/>
          </a:xfrm>
          <a:prstGeom prst="roundRect">
            <a:avLst>
              <a:gd name="adj" fmla="val 50000"/>
            </a:avLst>
          </a:prstGeom>
          <a:solidFill>
            <a:srgbClr val="06B6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933450" y="5448300"/>
            <a:ext cx="2095500" cy="2476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50000"/>
              </a:lnSpc>
            </a:pPr>
            <a:r>
              <a:rPr sz="1800" b="1">
                <a:solidFill>
                  <a:srgbClr val="0F172A"/>
                </a:solidFill>
                <a:latin typeface="思源黑体 CN"/>
              </a:rPr>
              <a:t>Stage 3 · 答疑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143250" y="5448300"/>
            <a:ext cx="4762500" cy="2476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50000"/>
              </a:lnSpc>
            </a:pPr>
            <a:r>
              <a:rPr sz="1600" b="0">
                <a:solidFill>
                  <a:srgbClr val="1A1A1A"/>
                </a:solidFill>
                <a:latin typeface="思源黑体 CN"/>
              </a:rPr>
              <a:t>先检索再回答 · 苏格拉底状态机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096250" y="5448300"/>
            <a:ext cx="3333750" cy="2476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50000"/>
              </a:lnSpc>
            </a:pPr>
            <a:r>
              <a:rPr sz="1600" b="0">
                <a:solidFill>
                  <a:srgbClr val="3B82F6"/>
                </a:solidFill>
                <a:latin typeface="思源黑体 CN"/>
              </a:rPr>
              <a:t>首轮只反问，连错 2 次强制降级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62000" y="6362700"/>
            <a:ext cx="7620000" cy="2476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50000"/>
              </a:lnSpc>
            </a:pPr>
            <a:r>
              <a:rPr sz="1400" b="0">
                <a:solidFill>
                  <a:srgbClr val="64748B"/>
                </a:solidFill>
                <a:latin typeface="思源黑体 CN"/>
              </a:rPr>
              <a:t>析知 XiZhi · 多模态教学智能体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9525000" y="6362700"/>
            <a:ext cx="1905000" cy="2476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50000"/>
              </a:lnSpc>
            </a:pPr>
            <a:r>
              <a:rPr sz="1400" b="0">
                <a:solidFill>
                  <a:srgbClr val="64748B"/>
                </a:solidFill>
                <a:latin typeface="JetBrains Mono"/>
              </a:rPr>
              <a:t>04 / 14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62000" y="247650"/>
            <a:ext cx="8572500" cy="2857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50000"/>
              </a:lnSpc>
            </a:pPr>
            <a:r>
              <a:rPr sz="1500" b="1">
                <a:solidFill>
                  <a:srgbClr val="06B6D4"/>
                </a:solidFill>
                <a:latin typeface="思源黑体 CN"/>
              </a:rPr>
              <a:t>CORE INNOVATION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62000" y="514350"/>
            <a:ext cx="10477500" cy="5143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3200" b="1">
                <a:solidFill>
                  <a:srgbClr val="0F172A"/>
                </a:solidFill>
                <a:latin typeface="思源黑体 CN"/>
              </a:rPr>
              <a:t>主创新点：把「依赖图无环」做成工程不变量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62000" y="1104900"/>
            <a:ext cx="533400" cy="47625"/>
          </a:xfrm>
          <a:prstGeom prst="roundRect">
            <a:avLst>
              <a:gd name="adj" fmla="val 50000"/>
            </a:avLst>
          </a:prstGeom>
          <a:solidFill>
            <a:srgbClr val="06B6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5" name="Picture 4" descr="innovatio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62000" y="1447800"/>
            <a:ext cx="5334000" cy="381000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6477000" y="1504950"/>
            <a:ext cx="4953000" cy="5715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800" b="0">
                <a:solidFill>
                  <a:srgbClr val="64748B"/>
                </a:solidFill>
                <a:latin typeface="思源黑体 CN"/>
              </a:rPr>
              <a:t>不是「我们希望它无环」</a:t>
            </a:r>
          </a:p>
          <a:p>
            <a:pPr algn="l">
              <a:lnSpc>
                <a:spcPct val="135000"/>
              </a:lnSpc>
            </a:pPr>
            <a:r>
              <a:rPr sz="3000" b="1">
                <a:solidFill>
                  <a:srgbClr val="0F172A"/>
                </a:solidFill>
                <a:latin typeface="思源黑体 CN"/>
              </a:rPr>
              <a:t>是「它不可能有环」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77000" y="2495550"/>
            <a:ext cx="4953000" cy="2667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50000"/>
              </a:lnSpc>
            </a:pPr>
            <a:r>
              <a:rPr sz="2000" b="1">
                <a:solidFill>
                  <a:srgbClr val="3B82F6"/>
                </a:solidFill>
                <a:latin typeface="思源黑体 CN"/>
              </a:rPr>
              <a:t>写库前校验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77000" y="2819400"/>
            <a:ext cx="4953000" cy="5905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60000"/>
              </a:lnSpc>
            </a:pPr>
            <a:r>
              <a:rPr sz="1600" b="0">
                <a:solidFill>
                  <a:srgbClr val="1A1A1A"/>
                </a:solidFill>
                <a:latin typeface="思源黑体 CN"/>
              </a:rPr>
              <a:t>环校验在完整图上做，不是截断后的子图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77000" y="3409950"/>
            <a:ext cx="4953000" cy="2667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50000"/>
              </a:lnSpc>
            </a:pPr>
            <a:r>
              <a:rPr sz="2000" b="1">
                <a:solidFill>
                  <a:srgbClr val="3B82F6"/>
                </a:solidFill>
                <a:latin typeface="思源黑体 CN"/>
              </a:rPr>
              <a:t>违规即剪枝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77000" y="3733800"/>
            <a:ext cx="4953000" cy="5905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60000"/>
              </a:lnSpc>
            </a:pPr>
            <a:r>
              <a:rPr sz="1600" b="0">
                <a:solidFill>
                  <a:srgbClr val="1A1A1A"/>
                </a:solidFill>
                <a:latin typeface="思源黑体 CN"/>
              </a:rPr>
              <a:t>成环的候选边在入库前就被剪掉，不留到运行期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77000" y="4324350"/>
            <a:ext cx="4953000" cy="2667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50000"/>
              </a:lnSpc>
            </a:pPr>
            <a:r>
              <a:rPr sz="2000" b="1">
                <a:solidFill>
                  <a:srgbClr val="3B82F6"/>
                </a:solidFill>
                <a:latin typeface="思源黑体 CN"/>
              </a:rPr>
              <a:t>留下痕迹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477000" y="4648200"/>
            <a:ext cx="4953000" cy="5905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60000"/>
              </a:lnSpc>
            </a:pPr>
            <a:r>
              <a:rPr sz="1600" b="0">
                <a:solidFill>
                  <a:srgbClr val="1A1A1A"/>
                </a:solidFill>
                <a:latin typeface="思源黑体 CN"/>
              </a:rPr>
              <a:t>同时报出被剪数量与待复核数量 —— 让「0」是检查过的 0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477000" y="5238750"/>
            <a:ext cx="4953000" cy="38100"/>
          </a:xfrm>
          <a:prstGeom prst="roundRect">
            <a:avLst>
              <a:gd name="adj" fmla="val 50000"/>
            </a:avLst>
          </a:prstGeom>
          <a:solidFill>
            <a:srgbClr val="06B6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477000" y="5391150"/>
            <a:ext cx="4953000" cy="2857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50000"/>
              </a:lnSpc>
            </a:pPr>
            <a:r>
              <a:rPr sz="1600" b="1">
                <a:solidFill>
                  <a:srgbClr val="0F172A"/>
                </a:solidFill>
                <a:latin typeface="思源黑体 CN"/>
              </a:rPr>
              <a:t>当前实测：环数 0 · 15 条硬前置边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62000" y="6362700"/>
            <a:ext cx="7620000" cy="2476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50000"/>
              </a:lnSpc>
            </a:pPr>
            <a:r>
              <a:rPr sz="1400" b="0">
                <a:solidFill>
                  <a:srgbClr val="64748B"/>
                </a:solidFill>
                <a:latin typeface="思源黑体 CN"/>
              </a:rPr>
              <a:t>析知 XiZhi · 多模态教学智能体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9525000" y="6362700"/>
            <a:ext cx="1905000" cy="2476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50000"/>
              </a:lnSpc>
            </a:pPr>
            <a:r>
              <a:rPr sz="1400" b="0">
                <a:solidFill>
                  <a:srgbClr val="64748B"/>
                </a:solidFill>
                <a:latin typeface="JetBrains Mono"/>
              </a:rPr>
              <a:t>05 / 14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62000" y="247650"/>
            <a:ext cx="8572500" cy="2857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50000"/>
              </a:lnSpc>
            </a:pPr>
            <a:r>
              <a:rPr sz="1500" b="1">
                <a:solidFill>
                  <a:srgbClr val="06B6D4"/>
                </a:solidFill>
                <a:latin typeface="思源黑体 CN"/>
              </a:rPr>
              <a:t>AI 能力说明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62000" y="514350"/>
            <a:ext cx="10477500" cy="5143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3200" b="1">
                <a:solidFill>
                  <a:srgbClr val="0F172A"/>
                </a:solidFill>
                <a:latin typeface="思源黑体 CN"/>
              </a:rPr>
              <a:t>谁在干活：AI 干粗活 + 人做裁决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62000" y="1104900"/>
            <a:ext cx="533400" cy="47625"/>
          </a:xfrm>
          <a:prstGeom prst="roundRect">
            <a:avLst>
              <a:gd name="adj" fmla="val 50000"/>
            </a:avLst>
          </a:prstGeom>
          <a:solidFill>
            <a:srgbClr val="06B6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5" name="Picture 4" descr="review_drawer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62000" y="1409700"/>
            <a:ext cx="6286500" cy="400050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7429500" y="1447800"/>
            <a:ext cx="4000500" cy="6667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70000"/>
              </a:lnSpc>
            </a:pPr>
            <a:r>
              <a:rPr sz="1800" b="0">
                <a:solidFill>
                  <a:srgbClr val="1A1A1A"/>
                </a:solidFill>
                <a:latin typeface="思源黑体 CN"/>
              </a:rPr>
              <a:t>复核队列里每条候选边都带
理由与原文出处，等人采纳或驳回。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429500" y="2438400"/>
            <a:ext cx="38100" cy="381000"/>
          </a:xfrm>
          <a:prstGeom prst="roundRect">
            <a:avLst>
              <a:gd name="adj" fmla="val 50000"/>
            </a:avLst>
          </a:prstGeom>
          <a:solidFill>
            <a:srgbClr val="3B82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581900" y="2400300"/>
            <a:ext cx="3810000" cy="2476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50000"/>
              </a:lnSpc>
            </a:pPr>
            <a:r>
              <a:rPr sz="1800" b="1">
                <a:solidFill>
                  <a:srgbClr val="0F172A"/>
                </a:solidFill>
                <a:latin typeface="思源黑体 CN"/>
              </a:rPr>
              <a:t>AI 不假装判准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581900" y="2705100"/>
            <a:ext cx="3810000" cy="6286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60000"/>
              </a:lnSpc>
            </a:pPr>
            <a:r>
              <a:rPr sz="1500" b="0">
                <a:solidFill>
                  <a:srgbClr val="64748B"/>
                </a:solidFill>
                <a:latin typeface="思源黑体 CN"/>
              </a:rPr>
              <a:t>过滤只做「一眼不像知识点」的排除，宁可放过不可误杀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429500" y="3448050"/>
            <a:ext cx="38100" cy="381000"/>
          </a:xfrm>
          <a:prstGeom prst="roundRect">
            <a:avLst>
              <a:gd name="adj" fmla="val 50000"/>
            </a:avLst>
          </a:prstGeom>
          <a:solidFill>
            <a:srgbClr val="3B82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581900" y="3409950"/>
            <a:ext cx="3810000" cy="2476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50000"/>
              </a:lnSpc>
            </a:pPr>
            <a:r>
              <a:rPr sz="1800" b="1">
                <a:solidFill>
                  <a:srgbClr val="0F172A"/>
                </a:solidFill>
                <a:latin typeface="思源黑体 CN"/>
              </a:rPr>
              <a:t>不确定摊在界面上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581900" y="3714750"/>
            <a:ext cx="3810000" cy="6286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60000"/>
              </a:lnSpc>
            </a:pPr>
            <a:r>
              <a:rPr sz="1500" b="0">
                <a:solidFill>
                  <a:srgbClr val="64748B"/>
                </a:solidFill>
                <a:latin typeface="思源黑体 CN"/>
              </a:rPr>
              <a:t>全部候选 100% 标 needs_review —— 评审可复核的原始数据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7429500" y="4457700"/>
            <a:ext cx="38100" cy="381000"/>
          </a:xfrm>
          <a:prstGeom prst="roundRect">
            <a:avLst>
              <a:gd name="adj" fmla="val 50000"/>
            </a:avLst>
          </a:prstGeom>
          <a:solidFill>
            <a:srgbClr val="3B82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7581900" y="4419600"/>
            <a:ext cx="3810000" cy="2476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50000"/>
              </a:lnSpc>
            </a:pPr>
            <a:r>
              <a:rPr sz="1800" b="1">
                <a:solidFill>
                  <a:srgbClr val="0F172A"/>
                </a:solidFill>
                <a:latin typeface="思源黑体 CN"/>
              </a:rPr>
              <a:t>人做最终裁决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581900" y="4724400"/>
            <a:ext cx="3810000" cy="6286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60000"/>
              </a:lnSpc>
            </a:pPr>
            <a:r>
              <a:rPr sz="1500" b="0">
                <a:solidFill>
                  <a:srgbClr val="64748B"/>
                </a:solidFill>
                <a:latin typeface="思源黑体 CN"/>
              </a:rPr>
              <a:t>采纳才进正式图；驳回软删除留痕，不留白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62000" y="6362700"/>
            <a:ext cx="7620000" cy="2476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50000"/>
              </a:lnSpc>
            </a:pPr>
            <a:r>
              <a:rPr sz="1400" b="0">
                <a:solidFill>
                  <a:srgbClr val="64748B"/>
                </a:solidFill>
                <a:latin typeface="思源黑体 CN"/>
              </a:rPr>
              <a:t>析知 XiZhi · 多模态教学智能体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9525000" y="6362700"/>
            <a:ext cx="1905000" cy="2476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50000"/>
              </a:lnSpc>
            </a:pPr>
            <a:r>
              <a:rPr sz="1400" b="0">
                <a:solidFill>
                  <a:srgbClr val="64748B"/>
                </a:solidFill>
                <a:latin typeface="JetBrains Mono"/>
              </a:rPr>
              <a:t>06 / 14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62000" y="247650"/>
            <a:ext cx="8572500" cy="2857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50000"/>
              </a:lnSpc>
            </a:pPr>
            <a:r>
              <a:rPr sz="1500" b="1">
                <a:solidFill>
                  <a:srgbClr val="06B6D4"/>
                </a:solidFill>
                <a:latin typeface="思源黑体 CN"/>
              </a:rPr>
              <a:t>DATA · 主动暴露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62000" y="514350"/>
            <a:ext cx="10477500" cy="5143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3200" b="1">
                <a:solidFill>
                  <a:srgbClr val="0F172A"/>
                </a:solidFill>
                <a:latin typeface="思源黑体 CN"/>
              </a:rPr>
              <a:t>抽取结果：我们把口径说清楚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62000" y="1104900"/>
            <a:ext cx="533400" cy="47625"/>
          </a:xfrm>
          <a:prstGeom prst="roundRect">
            <a:avLst>
              <a:gd name="adj" fmla="val 50000"/>
            </a:avLst>
          </a:prstGeom>
          <a:solidFill>
            <a:srgbClr val="06B6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762000" y="1352550"/>
            <a:ext cx="10668000" cy="3619500"/>
          </a:xfrm>
          <a:prstGeom prst="roundRect">
            <a:avLst>
              <a:gd name="adj" fmla="val 4210"/>
            </a:avLst>
          </a:prstGeom>
          <a:solidFill>
            <a:srgbClr val="FDF2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333500" y="1924050"/>
            <a:ext cx="2286000" cy="81724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6600" b="1">
                <a:solidFill>
                  <a:srgbClr val="EA580C"/>
                </a:solidFill>
                <a:latin typeface="JetBrains Mono"/>
              </a:rPr>
              <a:t>629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333500" y="2584132"/>
            <a:ext cx="22860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800" b="0">
                <a:solidFill>
                  <a:srgbClr val="64748B"/>
                </a:solidFill>
                <a:latin typeface="思源黑体 CN"/>
              </a:rPr>
              <a:t>条抽取条目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829050" y="1924050"/>
            <a:ext cx="2286000" cy="81724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6600" b="1">
                <a:solidFill>
                  <a:srgbClr val="EA580C"/>
                </a:solidFill>
                <a:latin typeface="JetBrains Mono"/>
              </a:rPr>
              <a:t>167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829050" y="2584132"/>
            <a:ext cx="22860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800" b="0">
                <a:solidFill>
                  <a:srgbClr val="64748B"/>
                </a:solidFill>
                <a:latin typeface="思源黑体 CN"/>
              </a:rPr>
              <a:t>个不同内容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324600" y="1924050"/>
            <a:ext cx="2286000" cy="81724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6600" b="1">
                <a:solidFill>
                  <a:srgbClr val="EA580C"/>
                </a:solidFill>
                <a:latin typeface="JetBrains Mono"/>
              </a:rPr>
              <a:t>95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324600" y="2584132"/>
            <a:ext cx="22860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800" b="0">
                <a:solidFill>
                  <a:srgbClr val="64748B"/>
                </a:solidFill>
                <a:latin typeface="思源黑体 CN"/>
              </a:rPr>
              <a:t>条知识点形态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820150" y="1924050"/>
            <a:ext cx="2286000" cy="81724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6600" b="1">
                <a:solidFill>
                  <a:srgbClr val="EA580C"/>
                </a:solidFill>
                <a:latin typeface="JetBrains Mono"/>
              </a:rPr>
              <a:t>100%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820150" y="2584132"/>
            <a:ext cx="22860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800" b="0">
                <a:solidFill>
                  <a:srgbClr val="64748B"/>
                </a:solidFill>
                <a:latin typeface="思源黑体 CN"/>
              </a:rPr>
              <a:t>标了待复核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333500" y="3638550"/>
            <a:ext cx="9525000" cy="10477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70000"/>
              </a:lnSpc>
            </a:pPr>
            <a:r>
              <a:rPr sz="1700" b="0">
                <a:solidFill>
                  <a:srgbClr val="1A1A1A"/>
                </a:solidFill>
                <a:latin typeface="思源黑体 CN"/>
              </a:rPr>
              <a:t>⚠️  「629」不能单独讲 —— 它是**抽取条目数**，不是知识点数。</a:t>
            </a:r>
          </a:p>
          <a:p>
            <a:pPr algn="l">
              <a:lnSpc>
                <a:spcPct val="170000"/>
              </a:lnSpc>
            </a:pPr>
            <a:r>
              <a:rPr sz="1700" b="0">
                <a:solidFill>
                  <a:srgbClr val="1A1A1A"/>
                </a:solidFill>
                <a:latin typeface="思源黑体 CN"/>
              </a:rPr>
              <a:t>同一份材料被抽了 4 遍，每遍追加、没去重；按正文指纹去重后是 167 条。</a:t>
            </a:r>
          </a:p>
          <a:p>
            <a:pPr algn="l">
              <a:lnSpc>
                <a:spcPct val="170000"/>
              </a:lnSpc>
            </a:pPr>
            <a:r>
              <a:rPr sz="1700" b="0">
                <a:solidFill>
                  <a:srgbClr val="1A1A1A"/>
                </a:solidFill>
                <a:latin typeface="思源黑体 CN"/>
              </a:rPr>
              <a:t>我们没有把它藏起来，而是**把待复核标到 100%**，交给复核队列。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62000" y="5257800"/>
            <a:ext cx="10668000" cy="381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50000"/>
              </a:lnSpc>
            </a:pPr>
            <a:r>
              <a:rPr sz="1600" b="0">
                <a:solidFill>
                  <a:srgbClr val="3B82F6"/>
                </a:solidFill>
                <a:latin typeface="思源黑体 CN"/>
              </a:rPr>
              <a:t>口径已写进 PPT 素材文档；去重排到功能冻结之后，单独立项。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62000" y="6362700"/>
            <a:ext cx="7620000" cy="2476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50000"/>
              </a:lnSpc>
            </a:pPr>
            <a:r>
              <a:rPr sz="1400" b="0">
                <a:solidFill>
                  <a:srgbClr val="64748B"/>
                </a:solidFill>
                <a:latin typeface="思源黑体 CN"/>
              </a:rPr>
              <a:t>析知 XiZhi · 多模态教学智能体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9525000" y="6362700"/>
            <a:ext cx="1905000" cy="2476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50000"/>
              </a:lnSpc>
            </a:pPr>
            <a:r>
              <a:rPr sz="1400" b="0">
                <a:solidFill>
                  <a:srgbClr val="64748B"/>
                </a:solidFill>
                <a:latin typeface="JetBrains Mono"/>
              </a:rPr>
              <a:t>07 / 14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62000" y="247650"/>
            <a:ext cx="8572500" cy="2857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50000"/>
              </a:lnSpc>
            </a:pPr>
            <a:r>
              <a:rPr sz="1500" b="1">
                <a:solidFill>
                  <a:srgbClr val="06B6D4"/>
                </a:solidFill>
                <a:latin typeface="思源黑体 CN"/>
              </a:rPr>
              <a:t>Stage 3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62000" y="514350"/>
            <a:ext cx="10477500" cy="5143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3200" b="1">
                <a:solidFill>
                  <a:srgbClr val="0F172A"/>
                </a:solidFill>
                <a:latin typeface="思源黑体 CN"/>
              </a:rPr>
              <a:t>答疑：不给答案也是设计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62000" y="1104900"/>
            <a:ext cx="533400" cy="47625"/>
          </a:xfrm>
          <a:prstGeom prst="roundRect">
            <a:avLst>
              <a:gd name="adj" fmla="val 50000"/>
            </a:avLst>
          </a:prstGeom>
          <a:solidFill>
            <a:srgbClr val="06B6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762000" y="1485900"/>
            <a:ext cx="4000500" cy="704850"/>
          </a:xfrm>
          <a:prstGeom prst="roundRect">
            <a:avLst>
              <a:gd name="adj" fmla="val 16216"/>
            </a:avLst>
          </a:prstGeom>
          <a:solidFill>
            <a:srgbClr val="F8FA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895350" y="1628775"/>
            <a:ext cx="419100" cy="419100"/>
          </a:xfrm>
          <a:prstGeom prst="roundRect">
            <a:avLst>
              <a:gd name="adj" fmla="val 22727"/>
            </a:avLst>
          </a:prstGeom>
          <a:solidFill>
            <a:srgbClr val="3B82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95350" y="1714500"/>
            <a:ext cx="419100" cy="2667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50000"/>
              </a:lnSpc>
            </a:pPr>
            <a:r>
              <a:rPr sz="2000" b="1">
                <a:solidFill>
                  <a:srgbClr val="FFFFFF"/>
                </a:solidFill>
                <a:latin typeface="JetBrains Mono"/>
              </a:rPr>
              <a:t>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466850" y="1619250"/>
            <a:ext cx="3048000" cy="2476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50000"/>
              </a:lnSpc>
            </a:pPr>
            <a:r>
              <a:rPr sz="1900" b="1">
                <a:solidFill>
                  <a:srgbClr val="0F172A"/>
                </a:solidFill>
                <a:latin typeface="思源黑体 CN"/>
              </a:rPr>
              <a:t>反问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466850" y="1885950"/>
            <a:ext cx="304800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50000"/>
              </a:lnSpc>
            </a:pPr>
            <a:r>
              <a:rPr sz="1500" b="0">
                <a:solidFill>
                  <a:srgbClr val="64748B"/>
                </a:solidFill>
                <a:latin typeface="思源黑体 CN"/>
              </a:rPr>
              <a:t>只反问，不给答案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62000" y="2324100"/>
            <a:ext cx="4000500" cy="704850"/>
          </a:xfrm>
          <a:prstGeom prst="roundRect">
            <a:avLst>
              <a:gd name="adj" fmla="val 16216"/>
            </a:avLst>
          </a:prstGeom>
          <a:solidFill>
            <a:srgbClr val="F8FA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ounded Rectangle 10"/>
          <p:cNvSpPr/>
          <p:nvPr/>
        </p:nvSpPr>
        <p:spPr>
          <a:xfrm>
            <a:off x="895350" y="2466975"/>
            <a:ext cx="419100" cy="419100"/>
          </a:xfrm>
          <a:prstGeom prst="roundRect">
            <a:avLst>
              <a:gd name="adj" fmla="val 22727"/>
            </a:avLst>
          </a:prstGeom>
          <a:solidFill>
            <a:srgbClr val="3B82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95350" y="2552700"/>
            <a:ext cx="419100" cy="2667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50000"/>
              </a:lnSpc>
            </a:pPr>
            <a:r>
              <a:rPr sz="2000" b="1">
                <a:solidFill>
                  <a:srgbClr val="FFFFFF"/>
                </a:solidFill>
                <a:latin typeface="JetBrains Mono"/>
              </a:rPr>
              <a:t>2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466850" y="2457450"/>
            <a:ext cx="3048000" cy="2476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50000"/>
              </a:lnSpc>
            </a:pPr>
            <a:r>
              <a:rPr sz="1900" b="1">
                <a:solidFill>
                  <a:srgbClr val="0F172A"/>
                </a:solidFill>
                <a:latin typeface="思源黑体 CN"/>
              </a:rPr>
              <a:t>提示 1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466850" y="2724150"/>
            <a:ext cx="304800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50000"/>
              </a:lnSpc>
            </a:pPr>
            <a:r>
              <a:rPr sz="1500" b="0">
                <a:solidFill>
                  <a:srgbClr val="64748B"/>
                </a:solidFill>
                <a:latin typeface="思源黑体 CN"/>
              </a:rPr>
              <a:t>方向性提示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762000" y="3162300"/>
            <a:ext cx="4000500" cy="704850"/>
          </a:xfrm>
          <a:prstGeom prst="roundRect">
            <a:avLst>
              <a:gd name="adj" fmla="val 16216"/>
            </a:avLst>
          </a:prstGeom>
          <a:solidFill>
            <a:srgbClr val="F8FA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ounded Rectangle 15"/>
          <p:cNvSpPr/>
          <p:nvPr/>
        </p:nvSpPr>
        <p:spPr>
          <a:xfrm>
            <a:off x="895350" y="3305175"/>
            <a:ext cx="419100" cy="419100"/>
          </a:xfrm>
          <a:prstGeom prst="roundRect">
            <a:avLst>
              <a:gd name="adj" fmla="val 22727"/>
            </a:avLst>
          </a:prstGeom>
          <a:solidFill>
            <a:srgbClr val="3B82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95350" y="3390900"/>
            <a:ext cx="419100" cy="2667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50000"/>
              </a:lnSpc>
            </a:pPr>
            <a:r>
              <a:rPr sz="2000" b="1">
                <a:solidFill>
                  <a:srgbClr val="FFFFFF"/>
                </a:solidFill>
                <a:latin typeface="JetBrains Mono"/>
              </a:rPr>
              <a:t>3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466850" y="3295650"/>
            <a:ext cx="3048000" cy="2476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50000"/>
              </a:lnSpc>
            </a:pPr>
            <a:r>
              <a:rPr sz="1900" b="1">
                <a:solidFill>
                  <a:srgbClr val="0F172A"/>
                </a:solidFill>
                <a:latin typeface="思源黑体 CN"/>
              </a:rPr>
              <a:t>提示 2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466850" y="3562350"/>
            <a:ext cx="304800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50000"/>
              </a:lnSpc>
            </a:pPr>
            <a:r>
              <a:rPr sz="1500" b="0">
                <a:solidFill>
                  <a:srgbClr val="64748B"/>
                </a:solidFill>
                <a:latin typeface="思源黑体 CN"/>
              </a:rPr>
              <a:t>强暗示，仍不给结论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762000" y="4000500"/>
            <a:ext cx="4000500" cy="704850"/>
          </a:xfrm>
          <a:prstGeom prst="roundRect">
            <a:avLst>
              <a:gd name="adj" fmla="val 16216"/>
            </a:avLst>
          </a:prstGeom>
          <a:solidFill>
            <a:srgbClr val="FDF2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ounded Rectangle 20"/>
          <p:cNvSpPr/>
          <p:nvPr/>
        </p:nvSpPr>
        <p:spPr>
          <a:xfrm>
            <a:off x="895350" y="4143375"/>
            <a:ext cx="419100" cy="419100"/>
          </a:xfrm>
          <a:prstGeom prst="roundRect">
            <a:avLst>
              <a:gd name="adj" fmla="val 22727"/>
            </a:avLst>
          </a:prstGeom>
          <a:solidFill>
            <a:srgbClr val="EA580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895350" y="4229100"/>
            <a:ext cx="419100" cy="2667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50000"/>
              </a:lnSpc>
            </a:pPr>
            <a:r>
              <a:rPr sz="2000" b="1">
                <a:solidFill>
                  <a:srgbClr val="FFFFFF"/>
                </a:solidFill>
                <a:latin typeface="JetBrains Mono"/>
              </a:rPr>
              <a:t>4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466850" y="4133850"/>
            <a:ext cx="3048000" cy="2476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50000"/>
              </a:lnSpc>
            </a:pPr>
            <a:r>
              <a:rPr sz="1900" b="1">
                <a:solidFill>
                  <a:srgbClr val="0F172A"/>
                </a:solidFill>
                <a:latin typeface="思源黑体 CN"/>
              </a:rPr>
              <a:t>兜底讲解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466850" y="4400550"/>
            <a:ext cx="304800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50000"/>
              </a:lnSpc>
            </a:pPr>
            <a:r>
              <a:rPr sz="1500" b="0">
                <a:solidFill>
                  <a:srgbClr val="EA580C"/>
                </a:solidFill>
                <a:latin typeface="思源黑体 CN"/>
              </a:rPr>
              <a:t>直接讲透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762000" y="4895850"/>
            <a:ext cx="4000500" cy="6667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60000"/>
              </a:lnSpc>
            </a:pPr>
            <a:r>
              <a:rPr sz="1600" b="0">
                <a:solidFill>
                  <a:srgbClr val="1A1A1A"/>
                </a:solidFill>
                <a:latin typeface="思源黑体 CN"/>
              </a:rPr>
              <a:t>降级由**代码层强制**，不依赖模型自觉 ——
连续 2 次答不上就讲透。</a:t>
            </a:r>
          </a:p>
        </p:txBody>
      </p:sp>
      <p:pic>
        <p:nvPicPr>
          <p:cNvPr id="26" name="Picture 25" descr="tutor_explai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238750" y="1409700"/>
            <a:ext cx="6191250" cy="4000500"/>
          </a:xfrm>
          <a:prstGeom prst="rect">
            <a:avLst/>
          </a:prstGeom>
        </p:spPr>
      </p:pic>
      <p:sp>
        <p:nvSpPr>
          <p:cNvPr id="27" name="TextBox 26"/>
          <p:cNvSpPr txBox="1"/>
          <p:nvPr/>
        </p:nvSpPr>
        <p:spPr>
          <a:xfrm>
            <a:off x="762000" y="6362700"/>
            <a:ext cx="7620000" cy="2476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50000"/>
              </a:lnSpc>
            </a:pPr>
            <a:r>
              <a:rPr sz="1400" b="0">
                <a:solidFill>
                  <a:srgbClr val="64748B"/>
                </a:solidFill>
                <a:latin typeface="思源黑体 CN"/>
              </a:rPr>
              <a:t>析知 XiZhi · 多模态教学智能体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9525000" y="6362700"/>
            <a:ext cx="1905000" cy="2476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50000"/>
              </a:lnSpc>
            </a:pPr>
            <a:r>
              <a:rPr sz="1400" b="0">
                <a:solidFill>
                  <a:srgbClr val="64748B"/>
                </a:solidFill>
                <a:latin typeface="JetBrains Mono"/>
              </a:rPr>
              <a:t>08 / 14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62000" y="247650"/>
            <a:ext cx="8572500" cy="2857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50000"/>
              </a:lnSpc>
            </a:pPr>
            <a:r>
              <a:rPr sz="1500" b="1">
                <a:solidFill>
                  <a:srgbClr val="06B6D4"/>
                </a:solidFill>
                <a:latin typeface="思源黑体 CN"/>
              </a:rPr>
              <a:t>Stage 2 · 可解释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62000" y="514350"/>
            <a:ext cx="10477500" cy="5143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3200" b="1">
                <a:solidFill>
                  <a:srgbClr val="0F172A"/>
                </a:solidFill>
                <a:latin typeface="思源黑体 CN"/>
              </a:rPr>
              <a:t>学习路径：先学什么、后学什么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62000" y="1104900"/>
            <a:ext cx="533400" cy="47625"/>
          </a:xfrm>
          <a:prstGeom prst="roundRect">
            <a:avLst>
              <a:gd name="adj" fmla="val 50000"/>
            </a:avLst>
          </a:prstGeom>
          <a:solidFill>
            <a:srgbClr val="06B6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1143000" y="1543050"/>
            <a:ext cx="2857500" cy="1123950"/>
          </a:xfrm>
          <a:prstGeom prst="roundRect">
            <a:avLst>
              <a:gd name="adj" fmla="val 11864"/>
            </a:avLst>
          </a:prstGeom>
          <a:solidFill>
            <a:srgbClr val="F8FA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1333500" y="1733550"/>
            <a:ext cx="342900" cy="342900"/>
          </a:xfrm>
          <a:prstGeom prst="roundRect">
            <a:avLst>
              <a:gd name="adj" fmla="val 25000"/>
            </a:avLst>
          </a:prstGeom>
          <a:solidFill>
            <a:srgbClr val="06B6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333500" y="1790700"/>
            <a:ext cx="34290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50000"/>
              </a:lnSpc>
            </a:pPr>
            <a:r>
              <a:rPr sz="1700" b="1">
                <a:solidFill>
                  <a:srgbClr val="FFFFFF"/>
                </a:solidFill>
                <a:latin typeface="JetBrains Mono"/>
              </a:rPr>
              <a:t>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790700" y="1771650"/>
            <a:ext cx="2057400" cy="2667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50000"/>
              </a:lnSpc>
            </a:pPr>
            <a:r>
              <a:rPr sz="1500" b="1">
                <a:solidFill>
                  <a:srgbClr val="0F172A"/>
                </a:solidFill>
                <a:latin typeface="思源黑体 CN"/>
              </a:rPr>
              <a:t>The basic problem of routing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333500" y="2190750"/>
            <a:ext cx="247650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50000"/>
              </a:lnSpc>
            </a:pPr>
            <a:r>
              <a:rPr sz="1400" b="0">
                <a:solidFill>
                  <a:srgbClr val="64748B"/>
                </a:solidFill>
                <a:latin typeface="思源黑体 CN"/>
              </a:rPr>
              <a:t>起点 · 入度 0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095750" y="2038350"/>
            <a:ext cx="381000" cy="38100"/>
          </a:xfrm>
          <a:prstGeom prst="roundRect">
            <a:avLst>
              <a:gd name="adj" fmla="val 50000"/>
            </a:avLst>
          </a:prstGeom>
          <a:solidFill>
            <a:srgbClr val="06B6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ounded Rectangle 10"/>
          <p:cNvSpPr/>
          <p:nvPr/>
        </p:nvSpPr>
        <p:spPr>
          <a:xfrm>
            <a:off x="4476750" y="1543050"/>
            <a:ext cx="2857500" cy="1123950"/>
          </a:xfrm>
          <a:prstGeom prst="roundRect">
            <a:avLst>
              <a:gd name="adj" fmla="val 11864"/>
            </a:avLst>
          </a:prstGeom>
          <a:solidFill>
            <a:srgbClr val="F8FA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ounded Rectangle 11"/>
          <p:cNvSpPr/>
          <p:nvPr/>
        </p:nvSpPr>
        <p:spPr>
          <a:xfrm>
            <a:off x="4667250" y="1733550"/>
            <a:ext cx="342900" cy="342900"/>
          </a:xfrm>
          <a:prstGeom prst="roundRect">
            <a:avLst>
              <a:gd name="adj" fmla="val 25000"/>
            </a:avLst>
          </a:prstGeom>
          <a:solidFill>
            <a:srgbClr val="06B6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667250" y="1790700"/>
            <a:ext cx="34290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50000"/>
              </a:lnSpc>
            </a:pPr>
            <a:r>
              <a:rPr sz="1700" b="1">
                <a:solidFill>
                  <a:srgbClr val="FFFFFF"/>
                </a:solidFill>
                <a:latin typeface="JetBrains Mono"/>
              </a:rPr>
              <a:t>2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124450" y="1771650"/>
            <a:ext cx="2057400" cy="2667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50000"/>
              </a:lnSpc>
            </a:pPr>
            <a:r>
              <a:rPr sz="1500" b="1">
                <a:solidFill>
                  <a:srgbClr val="0F172A"/>
                </a:solidFill>
                <a:latin typeface="思源黑体 CN"/>
              </a:rPr>
              <a:t>distance-vector routing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667250" y="2190750"/>
            <a:ext cx="247650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50000"/>
              </a:lnSpc>
            </a:pPr>
            <a:r>
              <a:rPr sz="1400" b="0">
                <a:solidFill>
                  <a:srgbClr val="64748B"/>
                </a:solidFill>
                <a:latin typeface="思源黑体 CN"/>
              </a:rPr>
              <a:t>补齐硬前置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7429500" y="2038350"/>
            <a:ext cx="381000" cy="38100"/>
          </a:xfrm>
          <a:prstGeom prst="roundRect">
            <a:avLst>
              <a:gd name="adj" fmla="val 50000"/>
            </a:avLst>
          </a:prstGeom>
          <a:solidFill>
            <a:srgbClr val="06B6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ounded Rectangle 16"/>
          <p:cNvSpPr/>
          <p:nvPr/>
        </p:nvSpPr>
        <p:spPr>
          <a:xfrm>
            <a:off x="7810500" y="1543050"/>
            <a:ext cx="2857500" cy="1123950"/>
          </a:xfrm>
          <a:prstGeom prst="roundRect">
            <a:avLst>
              <a:gd name="adj" fmla="val 11864"/>
            </a:avLst>
          </a:prstGeom>
          <a:solidFill>
            <a:srgbClr val="F8FA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ounded Rectangle 17"/>
          <p:cNvSpPr/>
          <p:nvPr/>
        </p:nvSpPr>
        <p:spPr>
          <a:xfrm>
            <a:off x="8001000" y="1733550"/>
            <a:ext cx="342900" cy="342900"/>
          </a:xfrm>
          <a:prstGeom prst="roundRect">
            <a:avLst>
              <a:gd name="adj" fmla="val 25000"/>
            </a:avLst>
          </a:prstGeom>
          <a:solidFill>
            <a:srgbClr val="06B6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8001000" y="1790700"/>
            <a:ext cx="34290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50000"/>
              </a:lnSpc>
            </a:pPr>
            <a:r>
              <a:rPr sz="1700" b="1">
                <a:solidFill>
                  <a:srgbClr val="FFFFFF"/>
                </a:solidFill>
                <a:latin typeface="JetBrains Mono"/>
              </a:rPr>
              <a:t>3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458200" y="1771650"/>
            <a:ext cx="2057400" cy="2667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50000"/>
              </a:lnSpc>
            </a:pPr>
            <a:r>
              <a:rPr sz="1500" b="1">
                <a:solidFill>
                  <a:srgbClr val="0F172A"/>
                </a:solidFill>
                <a:latin typeface="思源黑体 CN"/>
              </a:rPr>
              <a:t>RIP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001000" y="2190750"/>
            <a:ext cx="247650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50000"/>
              </a:lnSpc>
            </a:pPr>
            <a:r>
              <a:rPr sz="1400" b="0">
                <a:solidFill>
                  <a:srgbClr val="64748B"/>
                </a:solidFill>
                <a:latin typeface="思源黑体 CN"/>
              </a:rPr>
              <a:t>目标 · 可以学了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762000" y="2876550"/>
            <a:ext cx="106680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50000"/>
              </a:lnSpc>
            </a:pPr>
            <a:r>
              <a:rPr sz="1800" b="0">
                <a:solidFill>
                  <a:srgbClr val="3B82F6"/>
                </a:solidFill>
                <a:latin typeface="思源黑体 CN"/>
              </a:rPr>
              <a:t>路径 3 步，每一步都附来自硬前置边的理由 —— 排序不是黑箱。</a:t>
            </a:r>
          </a:p>
        </p:txBody>
      </p:sp>
      <p:pic>
        <p:nvPicPr>
          <p:cNvPr id="23" name="Picture 22" descr="learning_path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62000" y="3257550"/>
            <a:ext cx="10668000" cy="2190750"/>
          </a:xfrm>
          <a:prstGeom prst="rect">
            <a:avLst/>
          </a:prstGeom>
        </p:spPr>
      </p:pic>
      <p:sp>
        <p:nvSpPr>
          <p:cNvPr id="24" name="TextBox 23"/>
          <p:cNvSpPr txBox="1"/>
          <p:nvPr/>
        </p:nvSpPr>
        <p:spPr>
          <a:xfrm>
            <a:off x="762000" y="6362700"/>
            <a:ext cx="7620000" cy="2476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50000"/>
              </a:lnSpc>
            </a:pPr>
            <a:r>
              <a:rPr sz="1400" b="0">
                <a:solidFill>
                  <a:srgbClr val="64748B"/>
                </a:solidFill>
                <a:latin typeface="思源黑体 CN"/>
              </a:rPr>
              <a:t>析知 XiZhi · 多模态教学智能体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9525000" y="6362700"/>
            <a:ext cx="1905000" cy="2476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50000"/>
              </a:lnSpc>
            </a:pPr>
            <a:r>
              <a:rPr sz="1400" b="0">
                <a:solidFill>
                  <a:srgbClr val="64748B"/>
                </a:solidFill>
                <a:latin typeface="JetBrains Mono"/>
              </a:rPr>
              <a:t>09 / 14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62000" y="247650"/>
            <a:ext cx="8572500" cy="2857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50000"/>
              </a:lnSpc>
            </a:pPr>
            <a:r>
              <a:rPr sz="1500" b="1">
                <a:solidFill>
                  <a:srgbClr val="06B6D4"/>
                </a:solidFill>
                <a:latin typeface="思源黑体 CN"/>
              </a:rPr>
              <a:t>为什么不用那个更「标准」的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62000" y="514350"/>
            <a:ext cx="10477500" cy="5143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3200" b="1">
                <a:solidFill>
                  <a:srgbClr val="0F172A"/>
                </a:solidFill>
                <a:latin typeface="思源黑体 CN"/>
              </a:rPr>
              <a:t>技术方案：三个取舍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62000" y="1104900"/>
            <a:ext cx="533400" cy="47625"/>
          </a:xfrm>
          <a:prstGeom prst="roundRect">
            <a:avLst>
              <a:gd name="adj" fmla="val 50000"/>
            </a:avLst>
          </a:prstGeom>
          <a:solidFill>
            <a:srgbClr val="06B6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762000" y="1447800"/>
            <a:ext cx="10668000" cy="1219200"/>
          </a:xfrm>
          <a:prstGeom prst="roundRect">
            <a:avLst>
              <a:gd name="adj" fmla="val 10937"/>
            </a:avLst>
          </a:prstGeom>
          <a:solidFill>
            <a:srgbClr val="F8FA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28700" y="1657350"/>
            <a:ext cx="1238250" cy="2857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50000"/>
              </a:lnSpc>
            </a:pPr>
            <a:r>
              <a:rPr sz="1800" b="1">
                <a:solidFill>
                  <a:srgbClr val="64748B"/>
                </a:solidFill>
                <a:latin typeface="思源黑体 CN"/>
              </a:rPr>
              <a:t>后端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28700" y="2000250"/>
            <a:ext cx="3048000" cy="381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50000"/>
              </a:lnSpc>
            </a:pPr>
            <a:r>
              <a:rPr sz="2400" b="1">
                <a:solidFill>
                  <a:srgbClr val="0F172A"/>
                </a:solidFill>
                <a:latin typeface="思源黑体 CN"/>
              </a:rPr>
              <a:t>FastAPI + Uvicorn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572000" y="1695450"/>
            <a:ext cx="28575" cy="723900"/>
          </a:xfrm>
          <a:prstGeom prst="roundRect">
            <a:avLst>
              <a:gd name="adj" fmla="val 50000"/>
            </a:avLst>
          </a:prstGeom>
          <a:solidFill>
            <a:srgbClr val="06B6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838700" y="1733550"/>
            <a:ext cx="6286500" cy="6667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60000"/>
              </a:lnSpc>
            </a:pPr>
            <a:r>
              <a:rPr sz="1600" b="0">
                <a:solidFill>
                  <a:srgbClr val="1A1A1A"/>
                </a:solidFill>
                <a:latin typeface="思源黑体 CN"/>
              </a:rPr>
              <a:t>Stage 1 的解析生态在 Python —— 换 Node 要把 OCR、PDF 解析全部重做一遍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62000" y="2838450"/>
            <a:ext cx="10668000" cy="1219200"/>
          </a:xfrm>
          <a:prstGeom prst="roundRect">
            <a:avLst>
              <a:gd name="adj" fmla="val 10937"/>
            </a:avLst>
          </a:prstGeom>
          <a:solidFill>
            <a:srgbClr val="F8FA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028700" y="3048000"/>
            <a:ext cx="1238250" cy="2857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50000"/>
              </a:lnSpc>
            </a:pPr>
            <a:r>
              <a:rPr sz="1800" b="1">
                <a:solidFill>
                  <a:srgbClr val="64748B"/>
                </a:solidFill>
                <a:latin typeface="思源黑体 CN"/>
              </a:rPr>
              <a:t>数据库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28700" y="3390900"/>
            <a:ext cx="3048000" cy="381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50000"/>
              </a:lnSpc>
            </a:pPr>
            <a:r>
              <a:rPr sz="2400" b="1">
                <a:solidFill>
                  <a:srgbClr val="0F172A"/>
                </a:solidFill>
                <a:latin typeface="思源黑体 CN"/>
              </a:rPr>
              <a:t>SQLite（WAL）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4572000" y="3086100"/>
            <a:ext cx="28575" cy="723900"/>
          </a:xfrm>
          <a:prstGeom prst="roundRect">
            <a:avLst>
              <a:gd name="adj" fmla="val 50000"/>
            </a:avLst>
          </a:prstGeom>
          <a:solidFill>
            <a:srgbClr val="06B6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4838700" y="3124200"/>
            <a:ext cx="6286500" cy="6667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60000"/>
              </a:lnSpc>
            </a:pPr>
            <a:r>
              <a:rPr sz="1600" b="0">
                <a:solidFill>
                  <a:srgbClr val="1A1A1A"/>
                </a:solidFill>
                <a:latin typeface="思源黑体 CN"/>
              </a:rPr>
              <a:t>单机演示规模下，PG 带来的运维成本远大于收益；WAL 足够支撑并发读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762000" y="4229100"/>
            <a:ext cx="10668000" cy="1219200"/>
          </a:xfrm>
          <a:prstGeom prst="roundRect">
            <a:avLst>
              <a:gd name="adj" fmla="val 10937"/>
            </a:avLst>
          </a:prstGeom>
          <a:solidFill>
            <a:srgbClr val="F8FA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1028700" y="4438650"/>
            <a:ext cx="1238250" cy="2857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50000"/>
              </a:lnSpc>
            </a:pPr>
            <a:r>
              <a:rPr sz="1800" b="1">
                <a:solidFill>
                  <a:srgbClr val="64748B"/>
                </a:solidFill>
                <a:latin typeface="思源黑体 CN"/>
              </a:rPr>
              <a:t>检索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028700" y="4781550"/>
            <a:ext cx="3048000" cy="381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50000"/>
              </a:lnSpc>
            </a:pPr>
            <a:r>
              <a:rPr sz="2400" b="1">
                <a:solidFill>
                  <a:srgbClr val="0F172A"/>
                </a:solidFill>
                <a:latin typeface="思源黑体 CN"/>
              </a:rPr>
              <a:t>NumPy 暴力余弦 + FTS5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4572000" y="4476750"/>
            <a:ext cx="28575" cy="723900"/>
          </a:xfrm>
          <a:prstGeom prst="roundRect">
            <a:avLst>
              <a:gd name="adj" fmla="val 50000"/>
            </a:avLst>
          </a:prstGeom>
          <a:solidFill>
            <a:srgbClr val="06B6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4838700" y="4514850"/>
            <a:ext cx="6286500" cy="6667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60000"/>
              </a:lnSpc>
            </a:pPr>
            <a:r>
              <a:rPr sz="1600" b="0">
                <a:solidFill>
                  <a:srgbClr val="1A1A1A"/>
                </a:solidFill>
                <a:latin typeface="思源黑体 CN"/>
              </a:rPr>
              <a:t>规模不到万级，暴力算只需毫秒；引向量库要付出索引构建与依赖体积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62000" y="6362700"/>
            <a:ext cx="7620000" cy="2476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50000"/>
              </a:lnSpc>
            </a:pPr>
            <a:r>
              <a:rPr sz="1400" b="0">
                <a:solidFill>
                  <a:srgbClr val="64748B"/>
                </a:solidFill>
                <a:latin typeface="思源黑体 CN"/>
              </a:rPr>
              <a:t>析知 XiZhi · 多模态教学智能体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9525000" y="6362700"/>
            <a:ext cx="1905000" cy="2476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50000"/>
              </a:lnSpc>
            </a:pPr>
            <a:r>
              <a:rPr sz="1400" b="0">
                <a:solidFill>
                  <a:srgbClr val="64748B"/>
                </a:solidFill>
                <a:latin typeface="JetBrains Mono"/>
              </a:rPr>
              <a:t>10 / 14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62000" y="247650"/>
            <a:ext cx="8572500" cy="2857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50000"/>
              </a:lnSpc>
            </a:pPr>
            <a:r>
              <a:rPr sz="1500" b="1">
                <a:solidFill>
                  <a:srgbClr val="06B6D4"/>
                </a:solidFill>
                <a:latin typeface="思源黑体 CN"/>
              </a:rPr>
              <a:t>QUALITY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62000" y="514350"/>
            <a:ext cx="10477500" cy="5143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3200" b="1">
                <a:solidFill>
                  <a:srgbClr val="0F172A"/>
                </a:solidFill>
                <a:latin typeface="思源黑体 CN"/>
              </a:rPr>
              <a:t>质量：五项验收全通过，以及它怎么被验的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62000" y="1104900"/>
            <a:ext cx="533400" cy="47625"/>
          </a:xfrm>
          <a:prstGeom prst="roundRect">
            <a:avLst>
              <a:gd name="adj" fmla="val 50000"/>
            </a:avLst>
          </a:prstGeom>
          <a:solidFill>
            <a:srgbClr val="06B6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762000" y="1447800"/>
            <a:ext cx="6667500" cy="647700"/>
          </a:xfrm>
          <a:prstGeom prst="roundRect">
            <a:avLst>
              <a:gd name="adj" fmla="val 14705"/>
            </a:avLst>
          </a:prstGeom>
          <a:solidFill>
            <a:srgbClr val="F8FA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914400" y="1638300"/>
            <a:ext cx="266700" cy="266700"/>
          </a:xfrm>
          <a:prstGeom prst="roundRect">
            <a:avLst>
              <a:gd name="adj" fmla="val 25000"/>
            </a:avLst>
          </a:prstGeom>
          <a:solidFill>
            <a:srgbClr val="06B6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4400" y="1676400"/>
            <a:ext cx="266700" cy="2095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50000"/>
              </a:lnSpc>
            </a:pPr>
            <a:r>
              <a:rPr sz="1500" b="1">
                <a:solidFill>
                  <a:srgbClr val="FFFFFF"/>
                </a:solidFill>
                <a:latin typeface="思源黑体 CN"/>
              </a:rPr>
              <a:t>✓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314450" y="1562100"/>
            <a:ext cx="3048000" cy="2476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50000"/>
              </a:lnSpc>
            </a:pPr>
            <a:r>
              <a:rPr sz="1700" b="1">
                <a:solidFill>
                  <a:srgbClr val="0F172A"/>
                </a:solidFill>
                <a:latin typeface="思源黑体 CN"/>
              </a:rPr>
              <a:t>A2-1 三级结构完整率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314450" y="1809750"/>
            <a:ext cx="4000500" cy="2095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50000"/>
              </a:lnSpc>
            </a:pPr>
            <a:r>
              <a:rPr sz="1400" b="0">
                <a:solidFill>
                  <a:srgbClr val="64748B"/>
                </a:solidFill>
                <a:latin typeface="思源黑体 CN"/>
              </a:rPr>
              <a:t>章—节—知识点三级齐全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096000" y="1619250"/>
            <a:ext cx="11811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50000"/>
              </a:lnSpc>
            </a:pPr>
            <a:r>
              <a:rPr sz="2200" b="1">
                <a:solidFill>
                  <a:srgbClr val="06B6D4"/>
                </a:solidFill>
                <a:latin typeface="JetBrains Mono"/>
              </a:rPr>
              <a:t>100%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62000" y="2190750"/>
            <a:ext cx="6667500" cy="647700"/>
          </a:xfrm>
          <a:prstGeom prst="roundRect">
            <a:avLst>
              <a:gd name="adj" fmla="val 14705"/>
            </a:avLst>
          </a:prstGeom>
          <a:solidFill>
            <a:srgbClr val="F8FA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ounded Rectangle 11"/>
          <p:cNvSpPr/>
          <p:nvPr/>
        </p:nvSpPr>
        <p:spPr>
          <a:xfrm>
            <a:off x="914400" y="2381250"/>
            <a:ext cx="266700" cy="266700"/>
          </a:xfrm>
          <a:prstGeom prst="roundRect">
            <a:avLst>
              <a:gd name="adj" fmla="val 25000"/>
            </a:avLst>
          </a:prstGeom>
          <a:solidFill>
            <a:srgbClr val="06B6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914400" y="2419350"/>
            <a:ext cx="266700" cy="2095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50000"/>
              </a:lnSpc>
            </a:pPr>
            <a:r>
              <a:rPr sz="1500" b="1">
                <a:solidFill>
                  <a:srgbClr val="FFFFFF"/>
                </a:solidFill>
                <a:latin typeface="思源黑体 CN"/>
              </a:rPr>
              <a:t>✓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314450" y="2305050"/>
            <a:ext cx="3048000" cy="2476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50000"/>
              </a:lnSpc>
            </a:pPr>
            <a:r>
              <a:rPr sz="1700" b="1">
                <a:solidFill>
                  <a:srgbClr val="0F172A"/>
                </a:solidFill>
                <a:latin typeface="思源黑体 CN"/>
              </a:rPr>
              <a:t>A2-3 溯源覆盖率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314450" y="2552700"/>
            <a:ext cx="4000500" cy="2095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50000"/>
              </a:lnSpc>
            </a:pPr>
            <a:r>
              <a:rPr sz="1400" b="0">
                <a:solidFill>
                  <a:srgbClr val="64748B"/>
                </a:solidFill>
                <a:latin typeface="思源黑体 CN"/>
              </a:rPr>
              <a:t>每个知识点都能回到原文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096000" y="2362200"/>
            <a:ext cx="11811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50000"/>
              </a:lnSpc>
            </a:pPr>
            <a:r>
              <a:rPr sz="2200" b="1">
                <a:solidFill>
                  <a:srgbClr val="06B6D4"/>
                </a:solidFill>
                <a:latin typeface="JetBrains Mono"/>
              </a:rPr>
              <a:t>100%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762000" y="2933700"/>
            <a:ext cx="6667500" cy="647700"/>
          </a:xfrm>
          <a:prstGeom prst="roundRect">
            <a:avLst>
              <a:gd name="adj" fmla="val 14705"/>
            </a:avLst>
          </a:prstGeom>
          <a:solidFill>
            <a:srgbClr val="F8FA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ounded Rectangle 17"/>
          <p:cNvSpPr/>
          <p:nvPr/>
        </p:nvSpPr>
        <p:spPr>
          <a:xfrm>
            <a:off x="914400" y="3124200"/>
            <a:ext cx="266700" cy="266700"/>
          </a:xfrm>
          <a:prstGeom prst="roundRect">
            <a:avLst>
              <a:gd name="adj" fmla="val 25000"/>
            </a:avLst>
          </a:prstGeom>
          <a:solidFill>
            <a:srgbClr val="06B6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914400" y="3162300"/>
            <a:ext cx="266700" cy="2095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50000"/>
              </a:lnSpc>
            </a:pPr>
            <a:r>
              <a:rPr sz="1500" b="1">
                <a:solidFill>
                  <a:srgbClr val="FFFFFF"/>
                </a:solidFill>
                <a:latin typeface="思源黑体 CN"/>
              </a:rPr>
              <a:t>✓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314450" y="3048000"/>
            <a:ext cx="3048000" cy="2476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50000"/>
              </a:lnSpc>
            </a:pPr>
            <a:r>
              <a:rPr sz="1700" b="1">
                <a:solidFill>
                  <a:srgbClr val="0F172A"/>
                </a:solidFill>
                <a:latin typeface="思源黑体 CN"/>
              </a:rPr>
              <a:t>B1-2 依赖图环数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314450" y="3295650"/>
            <a:ext cx="4000500" cy="2095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50000"/>
              </a:lnSpc>
            </a:pPr>
            <a:r>
              <a:rPr sz="1400" b="0">
                <a:solidFill>
                  <a:srgbClr val="64748B"/>
                </a:solidFill>
                <a:latin typeface="思源黑体 CN"/>
              </a:rPr>
              <a:t>写库前校验，不是抽完才看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096000" y="3105150"/>
            <a:ext cx="11811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50000"/>
              </a:lnSpc>
            </a:pPr>
            <a:r>
              <a:rPr sz="2200" b="1">
                <a:solidFill>
                  <a:srgbClr val="06B6D4"/>
                </a:solidFill>
                <a:latin typeface="JetBrains Mono"/>
              </a:rPr>
              <a:t>0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762000" y="3676650"/>
            <a:ext cx="6667500" cy="647700"/>
          </a:xfrm>
          <a:prstGeom prst="roundRect">
            <a:avLst>
              <a:gd name="adj" fmla="val 14705"/>
            </a:avLst>
          </a:prstGeom>
          <a:solidFill>
            <a:srgbClr val="F8FA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ounded Rectangle 23"/>
          <p:cNvSpPr/>
          <p:nvPr/>
        </p:nvSpPr>
        <p:spPr>
          <a:xfrm>
            <a:off x="914400" y="3867150"/>
            <a:ext cx="266700" cy="266700"/>
          </a:xfrm>
          <a:prstGeom prst="roundRect">
            <a:avLst>
              <a:gd name="adj" fmla="val 25000"/>
            </a:avLst>
          </a:prstGeom>
          <a:solidFill>
            <a:srgbClr val="06B6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914400" y="3905250"/>
            <a:ext cx="266700" cy="2095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50000"/>
              </a:lnSpc>
            </a:pPr>
            <a:r>
              <a:rPr sz="1500" b="1">
                <a:solidFill>
                  <a:srgbClr val="FFFFFF"/>
                </a:solidFill>
                <a:latin typeface="思源黑体 CN"/>
              </a:rPr>
              <a:t>✓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314450" y="3790950"/>
            <a:ext cx="3048000" cy="2476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50000"/>
              </a:lnSpc>
            </a:pPr>
            <a:r>
              <a:rPr sz="1700" b="1">
                <a:solidFill>
                  <a:srgbClr val="0F172A"/>
                </a:solidFill>
                <a:latin typeface="思源黑体 CN"/>
              </a:rPr>
              <a:t>B1-5 边理由完备率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314450" y="4038600"/>
            <a:ext cx="4000500" cy="2095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50000"/>
              </a:lnSpc>
            </a:pPr>
            <a:r>
              <a:rPr sz="1400" b="0">
                <a:solidFill>
                  <a:srgbClr val="64748B"/>
                </a:solidFill>
                <a:latin typeface="思源黑体 CN"/>
              </a:rPr>
              <a:t>每条边都带理由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096000" y="3848100"/>
            <a:ext cx="11811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50000"/>
              </a:lnSpc>
            </a:pPr>
            <a:r>
              <a:rPr sz="2200" b="1">
                <a:solidFill>
                  <a:srgbClr val="06B6D4"/>
                </a:solidFill>
                <a:latin typeface="JetBrains Mono"/>
              </a:rPr>
              <a:t>100%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762000" y="4419600"/>
            <a:ext cx="6667500" cy="647700"/>
          </a:xfrm>
          <a:prstGeom prst="roundRect">
            <a:avLst>
              <a:gd name="adj" fmla="val 14705"/>
            </a:avLst>
          </a:prstGeom>
          <a:solidFill>
            <a:srgbClr val="F8FA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ounded Rectangle 29"/>
          <p:cNvSpPr/>
          <p:nvPr/>
        </p:nvSpPr>
        <p:spPr>
          <a:xfrm>
            <a:off x="914400" y="4610100"/>
            <a:ext cx="266700" cy="266700"/>
          </a:xfrm>
          <a:prstGeom prst="roundRect">
            <a:avLst>
              <a:gd name="adj" fmla="val 25000"/>
            </a:avLst>
          </a:prstGeom>
          <a:solidFill>
            <a:srgbClr val="06B6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914400" y="4648200"/>
            <a:ext cx="266700" cy="2095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50000"/>
              </a:lnSpc>
            </a:pPr>
            <a:r>
              <a:rPr sz="1500" b="1">
                <a:solidFill>
                  <a:srgbClr val="FFFFFF"/>
                </a:solidFill>
                <a:latin typeface="思源黑体 CN"/>
              </a:rPr>
              <a:t>✓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1314450" y="4533900"/>
            <a:ext cx="3048000" cy="2476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50000"/>
              </a:lnSpc>
            </a:pPr>
            <a:r>
              <a:rPr sz="1700" b="1">
                <a:solidFill>
                  <a:srgbClr val="0F172A"/>
                </a:solidFill>
                <a:latin typeface="思源黑体 CN"/>
              </a:rPr>
              <a:t>幻觉率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1314450" y="4781550"/>
            <a:ext cx="4000500" cy="2095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50000"/>
              </a:lnSpc>
            </a:pPr>
            <a:r>
              <a:rPr sz="1400" b="0">
                <a:solidFill>
                  <a:srgbClr val="64748B"/>
                </a:solidFill>
                <a:latin typeface="思源黑体 CN"/>
              </a:rPr>
              <a:t>检索不到就说材料里没有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6096000" y="4591050"/>
            <a:ext cx="11811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50000"/>
              </a:lnSpc>
            </a:pPr>
            <a:r>
              <a:rPr sz="2200" b="1">
                <a:solidFill>
                  <a:srgbClr val="06B6D4"/>
                </a:solidFill>
                <a:latin typeface="JetBrains Mono"/>
              </a:rPr>
              <a:t>0</a:t>
            </a:r>
          </a:p>
        </p:txBody>
      </p:sp>
      <p:pic>
        <p:nvPicPr>
          <p:cNvPr id="35" name="Picture 34" descr="graph_p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810500" y="1447800"/>
            <a:ext cx="3619500" cy="3810000"/>
          </a:xfrm>
          <a:prstGeom prst="rect">
            <a:avLst/>
          </a:prstGeom>
        </p:spPr>
      </p:pic>
      <p:sp>
        <p:nvSpPr>
          <p:cNvPr id="36" name="TextBox 35"/>
          <p:cNvSpPr txBox="1"/>
          <p:nvPr/>
        </p:nvSpPr>
        <p:spPr>
          <a:xfrm>
            <a:off x="762000" y="6362700"/>
            <a:ext cx="7620000" cy="2476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50000"/>
              </a:lnSpc>
            </a:pPr>
            <a:r>
              <a:rPr sz="1400" b="0">
                <a:solidFill>
                  <a:srgbClr val="64748B"/>
                </a:solidFill>
                <a:latin typeface="思源黑体 CN"/>
              </a:rPr>
              <a:t>析知 XiZhi · 多模态教学智能体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9525000" y="6362700"/>
            <a:ext cx="1905000" cy="2476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50000"/>
              </a:lnSpc>
            </a:pPr>
            <a:r>
              <a:rPr sz="1400" b="0">
                <a:solidFill>
                  <a:srgbClr val="64748B"/>
                </a:solidFill>
                <a:latin typeface="JetBrains Mono"/>
              </a:rPr>
              <a:t>11 / 14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62000" y="247650"/>
            <a:ext cx="8572500" cy="2857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50000"/>
              </a:lnSpc>
            </a:pPr>
            <a:r>
              <a:rPr sz="1500" b="1">
                <a:solidFill>
                  <a:srgbClr val="06B6D4"/>
                </a:solidFill>
                <a:latin typeface="思源黑体 CN"/>
              </a:rPr>
              <a:t>LIMITS · 不藏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62000" y="514350"/>
            <a:ext cx="10477500" cy="5143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3200" b="1">
                <a:solidFill>
                  <a:srgbClr val="0F172A"/>
                </a:solidFill>
                <a:latin typeface="思源黑体 CN"/>
              </a:rPr>
              <a:t>我们主动说的两个瑕疵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62000" y="1104900"/>
            <a:ext cx="533400" cy="47625"/>
          </a:xfrm>
          <a:prstGeom prst="roundRect">
            <a:avLst>
              <a:gd name="adj" fmla="val 50000"/>
            </a:avLst>
          </a:prstGeom>
          <a:solidFill>
            <a:srgbClr val="06B6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762000" y="1447800"/>
            <a:ext cx="5200650" cy="4191000"/>
          </a:xfrm>
          <a:prstGeom prst="roundRect">
            <a:avLst>
              <a:gd name="adj" fmla="val 3636"/>
            </a:avLst>
          </a:prstGeom>
          <a:solidFill>
            <a:srgbClr val="FDF2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66800" y="1695450"/>
            <a:ext cx="1905000" cy="2476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50000"/>
              </a:lnSpc>
            </a:pPr>
            <a:r>
              <a:rPr sz="1500" b="1">
                <a:solidFill>
                  <a:srgbClr val="EA580C"/>
                </a:solidFill>
                <a:latin typeface="JetBrains Mono"/>
              </a:rPr>
              <a:t>瑕疵一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66800" y="2019300"/>
            <a:ext cx="4572000" cy="5715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50000"/>
              </a:lnSpc>
            </a:pPr>
            <a:r>
              <a:rPr sz="2400" b="1">
                <a:solidFill>
                  <a:srgbClr val="0F172A"/>
                </a:solidFill>
                <a:latin typeface="思源黑体 CN"/>
              </a:rPr>
              <a:t>629 条里 462 条是重复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66800" y="2743200"/>
            <a:ext cx="4572000" cy="12382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70000"/>
              </a:lnSpc>
            </a:pPr>
            <a:r>
              <a:rPr sz="1600" b="0">
                <a:solidFill>
                  <a:srgbClr val="1A1A1A"/>
                </a:solidFill>
                <a:latin typeface="思源黑体 CN"/>
              </a:rPr>
              <a:t>同一份材料被抽了 4 遍，每遍追加、没去重。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1066800" y="4114800"/>
            <a:ext cx="4572000" cy="28575"/>
          </a:xfrm>
          <a:prstGeom prst="roundRect">
            <a:avLst>
              <a:gd name="adj" fmla="val 50000"/>
            </a:avLst>
          </a:prstGeom>
          <a:solidFill>
            <a:srgbClr val="EA580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066800" y="4305300"/>
            <a:ext cx="4572000" cy="10477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70000"/>
              </a:lnSpc>
            </a:pPr>
            <a:r>
              <a:rPr sz="1600" b="0">
                <a:solidFill>
                  <a:srgbClr val="0F172A"/>
                </a:solidFill>
                <a:latin typeface="思源黑体 CN"/>
              </a:rPr>
              <a:t>处置：只改口径（167 个不同内容），
去重排到功能冻结之后单独立项。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229350" y="1447800"/>
            <a:ext cx="5200650" cy="4191000"/>
          </a:xfrm>
          <a:prstGeom prst="roundRect">
            <a:avLst>
              <a:gd name="adj" fmla="val 3636"/>
            </a:avLst>
          </a:prstGeom>
          <a:solidFill>
            <a:srgbClr val="FDF2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534150" y="1695450"/>
            <a:ext cx="1905000" cy="2476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50000"/>
              </a:lnSpc>
            </a:pPr>
            <a:r>
              <a:rPr sz="1500" b="1">
                <a:solidFill>
                  <a:srgbClr val="EA580C"/>
                </a:solidFill>
                <a:latin typeface="JetBrains Mono"/>
              </a:rPr>
              <a:t>瑕疵二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534150" y="2019300"/>
            <a:ext cx="4572000" cy="5715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50000"/>
              </a:lnSpc>
            </a:pPr>
            <a:r>
              <a:rPr sz="2400" b="1">
                <a:solidFill>
                  <a:srgbClr val="0F172A"/>
                </a:solidFill>
                <a:latin typeface="思源黑体 CN"/>
              </a:rPr>
              <a:t>1 条硬前置边与 AI 判向相反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534150" y="2743200"/>
            <a:ext cx="4572000" cy="12382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70000"/>
              </a:lnSpc>
            </a:pPr>
            <a:r>
              <a:rPr sz="1600" b="0">
                <a:solidFill>
                  <a:srgbClr val="1A1A1A"/>
                </a:solidFill>
                <a:latin typeface="思源黑体 CN"/>
              </a:rPr>
              <a:t>AI 按文档顺序抽出的方向是「滑动窗口 → TCP」，
而我们读原文判定：要先懂 TCP 的字节流。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534150" y="4114800"/>
            <a:ext cx="4572000" cy="28575"/>
          </a:xfrm>
          <a:prstGeom prst="roundRect">
            <a:avLst>
              <a:gd name="adj" fmla="val 50000"/>
            </a:avLst>
          </a:prstGeom>
          <a:solidFill>
            <a:srgbClr val="EA580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534150" y="4305300"/>
            <a:ext cx="4572000" cy="10477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70000"/>
              </a:lnSpc>
            </a:pPr>
            <a:r>
              <a:rPr sz="1600" b="0">
                <a:solidFill>
                  <a:srgbClr val="0F172A"/>
                </a:solidFill>
                <a:latin typeface="思源黑体 CN"/>
              </a:rPr>
              <a:t>处置：不灌它，留在复核队列 ——
它正好是「人做裁决」的实例。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62000" y="6362700"/>
            <a:ext cx="7620000" cy="2476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50000"/>
              </a:lnSpc>
            </a:pPr>
            <a:r>
              <a:rPr sz="1400" b="0">
                <a:solidFill>
                  <a:srgbClr val="64748B"/>
                </a:solidFill>
                <a:latin typeface="思源黑体 CN"/>
              </a:rPr>
              <a:t>析知 XiZhi · 多模态教学智能体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9525000" y="6362700"/>
            <a:ext cx="1905000" cy="2476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50000"/>
              </a:lnSpc>
            </a:pPr>
            <a:r>
              <a:rPr sz="1400" b="0">
                <a:solidFill>
                  <a:srgbClr val="64748B"/>
                </a:solidFill>
                <a:latin typeface="JetBrains Mono"/>
              </a:rPr>
              <a:t>12 / 14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62000" y="247650"/>
            <a:ext cx="8572500" cy="2857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50000"/>
              </a:lnSpc>
            </a:pPr>
            <a:r>
              <a:rPr sz="1500" b="1">
                <a:solidFill>
                  <a:srgbClr val="06B6D4"/>
                </a:solidFill>
                <a:latin typeface="思源黑体 CN"/>
              </a:rPr>
              <a:t>DELIVERABLES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62000" y="514350"/>
            <a:ext cx="10477500" cy="5143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3200" b="1">
                <a:solidFill>
                  <a:srgbClr val="0F172A"/>
                </a:solidFill>
                <a:latin typeface="思源黑体 CN"/>
              </a:rPr>
              <a:t>作品信息与在线演示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62000" y="1104900"/>
            <a:ext cx="533400" cy="47625"/>
          </a:xfrm>
          <a:prstGeom prst="roundRect">
            <a:avLst>
              <a:gd name="adj" fmla="val 50000"/>
            </a:avLst>
          </a:prstGeom>
          <a:solidFill>
            <a:srgbClr val="06B6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762000" y="1447800"/>
            <a:ext cx="5200650" cy="3810000"/>
          </a:xfrm>
          <a:prstGeom prst="roundRect">
            <a:avLst>
              <a:gd name="adj" fmla="val 4000"/>
            </a:avLst>
          </a:prstGeom>
          <a:solidFill>
            <a:srgbClr val="F8FA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66800" y="1695450"/>
            <a:ext cx="4572000" cy="2857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50000"/>
              </a:lnSpc>
            </a:pPr>
            <a:r>
              <a:rPr sz="1500" b="1">
                <a:solidFill>
                  <a:srgbClr val="06B6D4"/>
                </a:solidFill>
                <a:latin typeface="JetBrains Mono"/>
              </a:rPr>
              <a:t>在线链接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66800" y="2038350"/>
            <a:ext cx="45720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50000"/>
              </a:lnSpc>
            </a:pPr>
            <a:r>
              <a:rPr sz="1700" b="0">
                <a:solidFill>
                  <a:srgbClr val="0F172A"/>
                </a:solidFill>
                <a:latin typeface="JetBrains Mono"/>
              </a:rPr>
              <a:t>http://120.77.177.171:8000/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66800" y="2476500"/>
            <a:ext cx="4572000" cy="2857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50000"/>
              </a:lnSpc>
            </a:pPr>
            <a:r>
              <a:rPr sz="1500" b="1">
                <a:solidFill>
                  <a:srgbClr val="06B6D4"/>
                </a:solidFill>
                <a:latin typeface="JetBrains Mono"/>
              </a:rPr>
              <a:t>源码仓库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66800" y="2819400"/>
            <a:ext cx="45720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50000"/>
              </a:lnSpc>
            </a:pPr>
            <a:r>
              <a:rPr sz="1500" b="0">
                <a:solidFill>
                  <a:srgbClr val="0F172A"/>
                </a:solidFill>
                <a:latin typeface="JetBrains Mono"/>
              </a:rPr>
              <a:t>github.com/RyeYen/
multimodal-teaching-agent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66800" y="3581400"/>
            <a:ext cx="4572000" cy="2857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50000"/>
              </a:lnSpc>
            </a:pPr>
            <a:r>
              <a:rPr sz="1500" b="1">
                <a:solidFill>
                  <a:srgbClr val="06B6D4"/>
                </a:solidFill>
                <a:latin typeface="JetBrains Mono"/>
              </a:rPr>
              <a:t>技术栈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66800" y="3924300"/>
            <a:ext cx="4572000" cy="10477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70000"/>
              </a:lnSpc>
            </a:pPr>
            <a:r>
              <a:rPr sz="1500" b="0">
                <a:solidFill>
                  <a:srgbClr val="1A1A1A"/>
                </a:solidFill>
                <a:latin typeface="思源黑体 CN"/>
              </a:rPr>
              <a:t>React 18 + TypeScript + Vite / FastAPI + SQLite(WAL)
PaddleOCR（本地）· NumPy 暴力检索 + FTS5
运行期零外部依赖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229350" y="1447800"/>
            <a:ext cx="5200650" cy="3810000"/>
          </a:xfrm>
          <a:prstGeom prst="roundRect">
            <a:avLst>
              <a:gd name="adj" fmla="val 4000"/>
            </a:avLst>
          </a:prstGeom>
          <a:solidFill>
            <a:srgbClr val="F8FA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534150" y="1695450"/>
            <a:ext cx="4572000" cy="2857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50000"/>
              </a:lnSpc>
            </a:pPr>
            <a:r>
              <a:rPr sz="1500" b="1">
                <a:solidFill>
                  <a:srgbClr val="06B6D4"/>
                </a:solidFill>
                <a:latin typeface="JetBrains Mono"/>
              </a:rPr>
              <a:t>可复现性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534150" y="2095500"/>
            <a:ext cx="1905000" cy="2476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50000"/>
              </a:lnSpc>
            </a:pPr>
            <a:r>
              <a:rPr sz="1600" b="1">
                <a:solidFill>
                  <a:srgbClr val="0F172A"/>
                </a:solidFill>
                <a:latin typeface="思源黑体 CN"/>
              </a:rPr>
              <a:t>环境自检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534150" y="2362200"/>
            <a:ext cx="4572000" cy="2476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50000"/>
              </a:lnSpc>
            </a:pPr>
            <a:r>
              <a:rPr sz="1400" b="0">
                <a:solidFill>
                  <a:srgbClr val="64748B"/>
                </a:solidFill>
                <a:latin typeface="JetBrains Mono"/>
              </a:rPr>
              <a:t>scripts/setup-venv.sh --check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534150" y="2705100"/>
            <a:ext cx="1905000" cy="2476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50000"/>
              </a:lnSpc>
            </a:pPr>
            <a:r>
              <a:rPr sz="1600" b="1">
                <a:solidFill>
                  <a:srgbClr val="0F172A"/>
                </a:solidFill>
                <a:latin typeface="思源黑体 CN"/>
              </a:rPr>
              <a:t>一键测试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534150" y="2971800"/>
            <a:ext cx="4572000" cy="2476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50000"/>
              </a:lnSpc>
            </a:pPr>
            <a:r>
              <a:rPr sz="1400" b="0">
                <a:solidFill>
                  <a:srgbClr val="64748B"/>
                </a:solidFill>
                <a:latin typeface="JetBrains Mono"/>
              </a:rPr>
              <a:t>scripts/test.sh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534150" y="3314700"/>
            <a:ext cx="1905000" cy="2476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50000"/>
              </a:lnSpc>
            </a:pPr>
            <a:r>
              <a:rPr sz="1600" b="1">
                <a:solidFill>
                  <a:srgbClr val="0F172A"/>
                </a:solidFill>
                <a:latin typeface="思源黑体 CN"/>
              </a:rPr>
              <a:t>交付打包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534150" y="3581400"/>
            <a:ext cx="4572000" cy="2476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50000"/>
              </a:lnSpc>
            </a:pPr>
            <a:r>
              <a:rPr sz="1400" b="0">
                <a:solidFill>
                  <a:srgbClr val="64748B"/>
                </a:solidFill>
                <a:latin typeface="JetBrains Mono"/>
              </a:rPr>
              <a:t>scripts/pack.sh（含敏感信息复查）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534150" y="3924300"/>
            <a:ext cx="1905000" cy="2476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50000"/>
              </a:lnSpc>
            </a:pPr>
            <a:r>
              <a:rPr sz="1600" b="1">
                <a:solidFill>
                  <a:srgbClr val="0F172A"/>
                </a:solidFill>
                <a:latin typeface="思源黑体 CN"/>
              </a:rPr>
              <a:t>部署自检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534150" y="4191000"/>
            <a:ext cx="4572000" cy="2476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50000"/>
              </a:lnSpc>
            </a:pPr>
            <a:r>
              <a:rPr sz="1400" b="0">
                <a:solidFill>
                  <a:srgbClr val="64748B"/>
                </a:solidFill>
                <a:latin typeface="JetBrains Mono"/>
              </a:rPr>
              <a:t>scripts/check-deploy.py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534150" y="4533900"/>
            <a:ext cx="1905000" cy="2476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50000"/>
              </a:lnSpc>
            </a:pPr>
            <a:r>
              <a:rPr sz="1600" b="1">
                <a:solidFill>
                  <a:srgbClr val="0F172A"/>
                </a:solidFill>
                <a:latin typeface="思源黑体 CN"/>
              </a:rPr>
              <a:t>演示快照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534150" y="4800600"/>
            <a:ext cx="4572000" cy="2476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50000"/>
              </a:lnSpc>
            </a:pPr>
            <a:r>
              <a:rPr sz="1400" b="0">
                <a:solidFill>
                  <a:srgbClr val="64748B"/>
                </a:solidFill>
                <a:latin typeface="JetBrains Mono"/>
              </a:rPr>
              <a:t>docs/metrics-snapshot.json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762000" y="6362700"/>
            <a:ext cx="7620000" cy="2476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50000"/>
              </a:lnSpc>
            </a:pPr>
            <a:r>
              <a:rPr sz="1400" b="0">
                <a:solidFill>
                  <a:srgbClr val="64748B"/>
                </a:solidFill>
                <a:latin typeface="思源黑体 CN"/>
              </a:rPr>
              <a:t>析知 XiZhi · 多模态教学智能体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9525000" y="6362700"/>
            <a:ext cx="1905000" cy="2476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50000"/>
              </a:lnSpc>
            </a:pPr>
            <a:r>
              <a:rPr sz="1400" b="0">
                <a:solidFill>
                  <a:srgbClr val="64748B"/>
                </a:solidFill>
                <a:latin typeface="JetBrains Mono"/>
              </a:rPr>
              <a:t>13 / 14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62000" y="247650"/>
            <a:ext cx="8572500" cy="2857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50000"/>
              </a:lnSpc>
            </a:pPr>
            <a:r>
              <a:rPr sz="1500" b="1">
                <a:solidFill>
                  <a:srgbClr val="06B6D4"/>
                </a:solidFill>
                <a:latin typeface="思源黑体 CN"/>
              </a:rPr>
              <a:t>TEAM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62000" y="514350"/>
            <a:ext cx="10477500" cy="5143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3200" b="1">
                <a:solidFill>
                  <a:srgbClr val="0F172A"/>
                </a:solidFill>
                <a:latin typeface="思源黑体 CN"/>
              </a:rPr>
              <a:t>团队成员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62000" y="1104900"/>
            <a:ext cx="533400" cy="47625"/>
          </a:xfrm>
          <a:prstGeom prst="roundRect">
            <a:avLst>
              <a:gd name="adj" fmla="val 50000"/>
            </a:avLst>
          </a:prstGeom>
          <a:solidFill>
            <a:srgbClr val="06B6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762000" y="1828800"/>
            <a:ext cx="3333750" cy="3143250"/>
          </a:xfrm>
          <a:prstGeom prst="roundRect">
            <a:avLst>
              <a:gd name="adj" fmla="val 4848"/>
            </a:avLst>
          </a:prstGeom>
          <a:solidFill>
            <a:srgbClr val="F8FA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1066800" y="2114550"/>
            <a:ext cx="571500" cy="571500"/>
          </a:xfrm>
          <a:prstGeom prst="roundRect">
            <a:avLst>
              <a:gd name="adj" fmla="val 23333"/>
            </a:avLst>
          </a:prstGeom>
          <a:solidFill>
            <a:srgbClr val="0F17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66800" y="2247900"/>
            <a:ext cx="5715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50000"/>
              </a:lnSpc>
            </a:pPr>
            <a:r>
              <a:rPr sz="2200" b="1">
                <a:solidFill>
                  <a:srgbClr val="FFFFFF"/>
                </a:solidFill>
                <a:latin typeface="JetBrains Mono"/>
              </a:rPr>
              <a:t>P1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66800" y="2895600"/>
            <a:ext cx="276225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50000"/>
              </a:lnSpc>
            </a:pPr>
            <a:r>
              <a:rPr sz="2400" b="1">
                <a:solidFill>
                  <a:srgbClr val="0F172A"/>
                </a:solidFill>
                <a:latin typeface="思源黑体 CN"/>
              </a:rPr>
              <a:t>解析工程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66800" y="3295650"/>
            <a:ext cx="2762250" cy="2667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50000"/>
              </a:lnSpc>
            </a:pPr>
            <a:r>
              <a:rPr sz="1600" b="0">
                <a:solidFill>
                  <a:srgbClr val="3B82F6"/>
                </a:solidFill>
                <a:latin typeface="JetBrains Mono"/>
              </a:rPr>
              <a:t>@DakerDack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66800" y="3752850"/>
            <a:ext cx="2762250" cy="8572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70000"/>
              </a:lnSpc>
            </a:pPr>
            <a:r>
              <a:rPr sz="1500" b="0">
                <a:solidFill>
                  <a:srgbClr val="64748B"/>
                </a:solidFill>
                <a:latin typeface="思源黑体 CN"/>
              </a:rPr>
              <a:t>PDF / 板书解析链路、OCR 校对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324350" y="1828800"/>
            <a:ext cx="3333750" cy="3143250"/>
          </a:xfrm>
          <a:prstGeom prst="roundRect">
            <a:avLst>
              <a:gd name="adj" fmla="val 4848"/>
            </a:avLst>
          </a:prstGeom>
          <a:solidFill>
            <a:srgbClr val="F8FA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ounded Rectangle 11"/>
          <p:cNvSpPr/>
          <p:nvPr/>
        </p:nvSpPr>
        <p:spPr>
          <a:xfrm>
            <a:off x="4629150" y="2114550"/>
            <a:ext cx="571500" cy="571500"/>
          </a:xfrm>
          <a:prstGeom prst="roundRect">
            <a:avLst>
              <a:gd name="adj" fmla="val 23333"/>
            </a:avLst>
          </a:prstGeom>
          <a:solidFill>
            <a:srgbClr val="0F17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629150" y="2247900"/>
            <a:ext cx="5715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50000"/>
              </a:lnSpc>
            </a:pPr>
            <a:r>
              <a:rPr sz="2200" b="1">
                <a:solidFill>
                  <a:srgbClr val="FFFFFF"/>
                </a:solidFill>
                <a:latin typeface="JetBrains Mono"/>
              </a:rPr>
              <a:t>P2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629150" y="2895600"/>
            <a:ext cx="276225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50000"/>
              </a:lnSpc>
            </a:pPr>
            <a:r>
              <a:rPr sz="2400" b="1">
                <a:solidFill>
                  <a:srgbClr val="0F172A"/>
                </a:solidFill>
                <a:latin typeface="思源黑体 CN"/>
              </a:rPr>
              <a:t>数据与结构化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629150" y="3295650"/>
            <a:ext cx="2762250" cy="2667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50000"/>
              </a:lnSpc>
            </a:pPr>
            <a:r>
              <a:rPr sz="1600" b="0">
                <a:solidFill>
                  <a:srgbClr val="3B82F6"/>
                </a:solidFill>
                <a:latin typeface="JetBrains Mono"/>
              </a:rPr>
              <a:t>@Mikeys5s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629150" y="3752850"/>
            <a:ext cx="2762250" cy="8572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70000"/>
              </a:lnSpc>
            </a:pPr>
            <a:r>
              <a:rPr sz="1500" b="0">
                <a:solidFill>
                  <a:srgbClr val="64748B"/>
                </a:solidFill>
                <a:latin typeface="思源黑体 CN"/>
              </a:rPr>
              <a:t>抽取管线、依赖图、学习路径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7886700" y="1828800"/>
            <a:ext cx="3333750" cy="3143250"/>
          </a:xfrm>
          <a:prstGeom prst="roundRect">
            <a:avLst>
              <a:gd name="adj" fmla="val 4848"/>
            </a:avLst>
          </a:prstGeom>
          <a:solidFill>
            <a:srgbClr val="F8FA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ounded Rectangle 17"/>
          <p:cNvSpPr/>
          <p:nvPr/>
        </p:nvSpPr>
        <p:spPr>
          <a:xfrm>
            <a:off x="8191500" y="2114550"/>
            <a:ext cx="571500" cy="571500"/>
          </a:xfrm>
          <a:prstGeom prst="roundRect">
            <a:avLst>
              <a:gd name="adj" fmla="val 23333"/>
            </a:avLst>
          </a:prstGeom>
          <a:solidFill>
            <a:srgbClr val="0F17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8191500" y="2247900"/>
            <a:ext cx="5715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50000"/>
              </a:lnSpc>
            </a:pPr>
            <a:r>
              <a:rPr sz="2200" b="1">
                <a:solidFill>
                  <a:srgbClr val="FFFFFF"/>
                </a:solidFill>
                <a:latin typeface="JetBrains Mono"/>
              </a:rPr>
              <a:t>P3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191500" y="2895600"/>
            <a:ext cx="276225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50000"/>
              </a:lnSpc>
            </a:pPr>
            <a:r>
              <a:rPr sz="2400" b="1">
                <a:solidFill>
                  <a:srgbClr val="0F172A"/>
                </a:solidFill>
                <a:latin typeface="思源黑体 CN"/>
              </a:rPr>
              <a:t>前端与交互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191500" y="3295650"/>
            <a:ext cx="2762250" cy="2667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50000"/>
              </a:lnSpc>
            </a:pPr>
            <a:r>
              <a:rPr sz="1600" b="0">
                <a:solidFill>
                  <a:srgbClr val="3B82F6"/>
                </a:solidFill>
                <a:latin typeface="JetBrains Mono"/>
              </a:rPr>
              <a:t>@RyeYen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191500" y="3752850"/>
            <a:ext cx="2762250" cy="8572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70000"/>
              </a:lnSpc>
            </a:pPr>
            <a:r>
              <a:rPr sz="1500" b="0">
                <a:solidFill>
                  <a:srgbClr val="64748B"/>
                </a:solidFill>
                <a:latin typeface="思源黑体 CN"/>
              </a:rPr>
              <a:t>页面与状态机、复核工作台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62000" y="5257800"/>
            <a:ext cx="106680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50000"/>
              </a:lnSpc>
            </a:pPr>
            <a:r>
              <a:rPr sz="1600" b="0">
                <a:solidFill>
                  <a:srgbClr val="64748B"/>
                </a:solidFill>
                <a:latin typeface="思源黑体 CN"/>
              </a:rPr>
              <a:t>三人同属计算机与软件学院 · 人工智能专业 · 联系方式见提交材料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762000" y="5657850"/>
            <a:ext cx="10668000" cy="381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50000"/>
              </a:lnSpc>
            </a:pPr>
            <a:r>
              <a:rPr sz="2400" b="1">
                <a:solidFill>
                  <a:srgbClr val="0F172A"/>
                </a:solidFill>
                <a:latin typeface="思源黑体 CN"/>
              </a:rPr>
              <a:t>谢谢，欢迎提问。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